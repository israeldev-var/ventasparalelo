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Tiempo esperando el lock</c:v>
                </c:pt>
              </c:strCache>
            </c:strRef>
          </c:tx>
          <c:spPr>
            <a:solidFill>
              <a:srgbClr val="E94F4F"/>
            </a:solidFill>
            <a:effectLst/>
          </c:spPr>
          <c:invertIfNegative val="0"/>
          <c:dLbls>
            <c:numFmt formatCode="0.0&quot;s&quot;" sourceLinked="0"/>
            <c:txPr>
              <a:bodyPr/>
              <a:lstStyle/>
              <a:p>
                <a:pPr>
                  <a:defRPr b="1" i="0" strike="noStrike" sz="1300" u="none">
                    <a:solidFill>
                      <a:srgbClr val="14202E"/>
                    </a:solidFill>
                    <a:latin typeface="Arial"/>
                  </a:defRPr>
                </a:pPr>
              </a:p>
            </c:txPr>
            <c:showLegendKey val="0"/>
            <c:showVal val="1"/>
            <c:showCatName val="0"/>
            <c:showSerName val="0"/>
            <c:showPercent val="0"/>
            <c:showBubbleSize val="0"/>
            <c:showLeaderLines val="0"/>
          </c:dLbls>
          <c:cat>
            <c:multiLvlStrRef>
              <c:f>Sheet1!$A$2:$A$5</c:f>
              <c:multiLvlStrCache>
                <c:ptCount val="4"/>
                <c:lvl>
                  <c:pt idx="0">
                    <c:v>1 hilo</c:v>
                  </c:pt>
                  <c:pt idx="1">
                    <c:v>2 hilos</c:v>
                  </c:pt>
                  <c:pt idx="2">
                    <c:v>4 hilos</c:v>
                  </c:pt>
                  <c:pt idx="3">
                    <c:v>8 hilos</c:v>
                  </c:pt>
                </c:lvl>
              </c:multiLvlStrCache>
            </c:multiLvlStrRef>
          </c:cat>
          <c:val>
            <c:numRef>
              <c:f>Sheet1!$B$2:$B$5</c:f>
              <c:numCache>
                <c:formatCode>General</c:formatCode>
                <c:ptCount val="4"/>
                <c:pt idx="0">
                  <c:v>0.24</c:v>
                </c:pt>
                <c:pt idx="1">
                  <c:v>1.59</c:v>
                </c:pt>
                <c:pt idx="2">
                  <c:v>4.54</c:v>
                </c:pt>
                <c:pt idx="3">
                  <c:v>10.64</c:v>
                </c:pt>
              </c:numCache>
            </c:numRef>
          </c:val>
        </c:ser>
        <c:dLbls>
          <c:numFmt formatCode="0.0&quot;s&quot;" sourceLinked="0"/>
          <c:txPr>
            <a:bodyPr/>
            <a:lstStyle/>
            <a:p>
              <a:pPr>
                <a:defRPr b="1" i="0" strike="noStrike" sz="1300" u="none">
                  <a:solidFill>
                    <a:srgbClr val="14202E"/>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3E8EC"/>
            </a:solidFill>
            <a:prstDash val="solid"/>
            <a:round/>
          </a:ln>
        </c:spPr>
        <c:txPr>
          <a:bodyPr/>
          <a:lstStyle/>
          <a:p>
            <a:pPr>
              <a:defRPr sz="1300" b="0" i="0" u="none" strike="noStrike">
                <a:solidFill>
                  <a:srgbClr val="5A6B7D"/>
                </a:solidFill>
                <a:latin typeface="Arial"/>
              </a:defRPr>
            </a:pPr>
            <a:endParaRPr lang="en-US"/>
          </a:p>
        </c:txPr>
        <c:crossAx val="2094734552"/>
        <c:crosses val="autoZero"/>
        <c:auto val="1"/>
        <c:lblAlgn val="ctr"/>
        <c:noMultiLvlLbl val="1"/>
      </c:catAx>
      <c:valAx>
        <c:axId val="2094734552"/>
        <c:scaling>
          <c:orientation val="minMax"/>
          <c:max val="12"/>
        </c:scaling>
        <c:delete val="0"/>
        <c:axPos val="l"/>
        <c:majorGridlines>
          <c:spPr>
            <a:ln w="12700" cap="flat">
              <a:solidFill>
                <a:srgbClr val="E3E8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A6B7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Eficiencia</c:v>
                </c:pt>
              </c:strCache>
            </c:strRef>
          </c:tx>
          <c:spPr>
            <a:solidFill>
              <a:srgbClr val="E94F4F"/>
            </a:solidFill>
            <a:effectLst/>
          </c:spPr>
          <c:invertIfNegative val="0"/>
          <c:dLbls>
            <c:numFmt formatCode="0&quot;%&quot;" sourceLinked="0"/>
            <c:txPr>
              <a:bodyPr/>
              <a:lstStyle/>
              <a:p>
                <a:pPr>
                  <a:defRPr b="1" i="0" strike="noStrike" sz="1200" u="none">
                    <a:solidFill>
                      <a:srgbClr val="14202E"/>
                    </a:solidFill>
                    <a:latin typeface="Arial"/>
                  </a:defRPr>
                </a:pPr>
              </a:p>
            </c:txPr>
            <c:showLegendKey val="0"/>
            <c:showVal val="1"/>
            <c:showCatName val="0"/>
            <c:showSerName val="0"/>
            <c:showPercent val="0"/>
            <c:showBubbleSize val="0"/>
            <c:showLeaderLines val="0"/>
          </c:dLbls>
          <c:dPt>
            <c:idx val="0"/>
            <c:invertIfNegative val="0"/>
            <c:bubble3D val="0"/>
            <c:spPr>
              <a:solidFill>
                <a:srgbClr val="E94F4F"/>
              </a:solidFill>
              <a:effectLst/>
            </c:spPr>
          </c:dPt>
          <c:dPt>
            <c:idx val="1"/>
            <c:invertIfNegative val="0"/>
            <c:bubble3D val="0"/>
            <c:spPr>
              <a:solidFill>
                <a:srgbClr val="E94F4F"/>
              </a:solidFill>
              <a:effectLst/>
            </c:spPr>
          </c:dPt>
          <c:dPt>
            <c:idx val="2"/>
            <c:invertIfNegative val="0"/>
            <c:bubble3D val="0"/>
            <c:spPr>
              <a:solidFill>
                <a:srgbClr val="E94F4F"/>
              </a:solidFill>
              <a:effectLst/>
            </c:spPr>
          </c:dPt>
          <c:dPt>
            <c:idx val="3"/>
            <c:invertIfNegative val="0"/>
            <c:bubble3D val="0"/>
            <c:spPr>
              <a:solidFill>
                <a:srgbClr val="F2A65A"/>
              </a:solidFill>
              <a:effectLst/>
            </c:spPr>
          </c:dPt>
          <c:dPt>
            <c:idx val="4"/>
            <c:invertIfNegative val="0"/>
            <c:bubble3D val="0"/>
            <c:spPr>
              <a:solidFill>
                <a:srgbClr val="02C39A"/>
              </a:solidFill>
              <a:effectLst/>
            </c:spPr>
          </c:dPt>
          <c:dPt>
            <c:idx val="5"/>
            <c:invertIfNegative val="0"/>
            <c:bubble3D val="0"/>
            <c:spPr>
              <a:solidFill>
                <a:srgbClr val="02C39A"/>
              </a:solidFill>
              <a:effectLst/>
            </c:spPr>
          </c:dPt>
          <c:dPt>
            <c:idx val="6"/>
            <c:invertIfNegative val="0"/>
            <c:bubble3D val="0"/>
            <c:spPr>
              <a:solidFill>
                <a:srgbClr val="02C39A"/>
              </a:solidFill>
              <a:effectLst/>
            </c:spPr>
          </c:dPt>
          <c:dPt>
            <c:idx val="7"/>
            <c:invertIfNegative val="0"/>
            <c:bubble3D val="0"/>
            <c:spPr>
              <a:solidFill>
                <a:srgbClr val="02C39A"/>
              </a:solidFill>
              <a:effectLst/>
            </c:spPr>
          </c:dPt>
          <c:cat>
            <c:multiLvlStrRef>
              <c:f>Sheet1!$A$2:$A$9</c:f>
              <c:multiLvlStrCache>
                <c:ptCount val="8"/>
                <c:lvl>
                  <c:pt idx="0">
                    <c:v>lock sobre Dictionary</c:v>
                  </c:pt>
                  <c:pt idx="1">
                    <c:v>PLINQ GroupBy</c:v>
                  </c:pt>
                  <c:pt idx="2">
                    <c:v>ConcurrentDictionary</c:v>
                  </c:pt>
                  <c:pt idx="3">
                    <c:v>Round-robin</c:v>
                  </c:pt>
                  <c:pt idx="4">
                    <c:v>Grano grueso</c:v>
                  </c:pt>
                  <c:pt idx="5">
                    <c:v>Acumuladores locales</c:v>
                  </c:pt>
                  <c:pt idx="6">
                    <c:v>Reducción en árbol</c:v>
                  </c:pt>
                  <c:pt idx="7">
                    <c:v>Chunking dinámico</c:v>
                  </c:pt>
                </c:lvl>
              </c:multiLvlStrCache>
            </c:multiLvlStrRef>
          </c:cat>
          <c:val>
            <c:numRef>
              <c:f>Sheet1!$B$2:$B$9</c:f>
              <c:numCache>
                <c:formatCode>General</c:formatCode>
                <c:ptCount val="8"/>
                <c:pt idx="0">
                  <c:v>6</c:v>
                </c:pt>
                <c:pt idx="1">
                  <c:v>8</c:v>
                </c:pt>
                <c:pt idx="2">
                  <c:v>10</c:v>
                </c:pt>
                <c:pt idx="3">
                  <c:v>32</c:v>
                </c:pt>
                <c:pt idx="4">
                  <c:v>38</c:v>
                </c:pt>
                <c:pt idx="5">
                  <c:v>41</c:v>
                </c:pt>
                <c:pt idx="6">
                  <c:v>41</c:v>
                </c:pt>
                <c:pt idx="7">
                  <c:v>42</c:v>
                </c:pt>
              </c:numCache>
            </c:numRef>
          </c:val>
        </c:ser>
        <c:dLbls>
          <c:numFmt formatCode="0&quot;%&quot;" sourceLinked="0"/>
          <c:txPr>
            <a:bodyPr/>
            <a:lstStyle/>
            <a:p>
              <a:pPr>
                <a:defRPr b="1" i="0" strike="noStrike" sz="1200" u="none">
                  <a:solidFill>
                    <a:srgbClr val="14202E"/>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E3E8EC"/>
            </a:solidFill>
            <a:prstDash val="solid"/>
            <a:round/>
          </a:ln>
        </c:spPr>
        <c:txPr>
          <a:bodyPr/>
          <a:lstStyle/>
          <a:p>
            <a:pPr>
              <a:defRPr sz="1200" b="0" i="0" u="none" strike="noStrike">
                <a:solidFill>
                  <a:srgbClr val="14202E"/>
                </a:solidFill>
                <a:latin typeface="Arial"/>
              </a:defRPr>
            </a:pPr>
            <a:endParaRPr lang="en-US"/>
          </a:p>
        </c:txPr>
        <c:crossAx val="2094734552"/>
        <c:crosses val="autoZero"/>
        <c:auto val="1"/>
        <c:lblAlgn val="ctr"/>
        <c:noMultiLvlLbl val="1"/>
      </c:catAx>
      <c:valAx>
        <c:axId val="2094734552"/>
        <c:scaling>
          <c:orientation val="minMax"/>
          <c:max val="50"/>
        </c:scaling>
        <c:delete val="0"/>
        <c:axPos val="b"/>
        <c:majorGridlines>
          <c:spPr>
            <a:ln w="12700" cap="flat">
              <a:solidFill>
                <a:srgbClr val="E3E8EC"/>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100" b="0" i="0" u="none" strike="noStrike">
                <a:solidFill>
                  <a:srgbClr val="5A6B7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Workstation GC</c:v>
                </c:pt>
              </c:strCache>
            </c:strRef>
          </c:tx>
          <c:spPr>
            <a:solidFill>
              <a:srgbClr val="A9B7C4"/>
            </a:solidFill>
            <a:effectLst/>
          </c:spPr>
          <c:invertIfNegative val="0"/>
          <c:dLbls>
            <c:numFmt formatCode="0&quot;%&quot;" sourceLinked="0"/>
            <c:txPr>
              <a:bodyPr/>
              <a:lstStyle/>
              <a:p>
                <a:pPr>
                  <a:defRPr b="0" i="0" strike="noStrike" sz="1000" u="none">
                    <a:solidFill>
                      <a:srgbClr val="5A6B7D"/>
                    </a:solidFill>
                    <a:latin typeface="Arial"/>
                  </a:defRPr>
                </a:pPr>
              </a:p>
            </c:txPr>
            <c:showLegendKey val="0"/>
            <c:showVal val="1"/>
            <c:showCatName val="0"/>
            <c:showSerName val="0"/>
            <c:showPercent val="0"/>
            <c:showBubbleSize val="0"/>
            <c:showLeaderLines val="0"/>
          </c:dLbls>
          <c:cat>
            <c:multiLvlStrRef>
              <c:f>Sheet1!$A$2:$A$6</c:f>
              <c:multiLvlStrCache>
                <c:ptCount val="5"/>
                <c:lvl>
                  <c:pt idx="0">
                    <c:v>Chunking</c:v>
                  </c:pt>
                  <c:pt idx="1">
                    <c:v>Árbol</c:v>
                  </c:pt>
                  <c:pt idx="2">
                    <c:v>Acum. locales</c:v>
                  </c:pt>
                  <c:pt idx="3">
                    <c:v>Grano grueso</c:v>
                  </c:pt>
                  <c:pt idx="4">
                    <c:v>Round-robin</c:v>
                  </c:pt>
                </c:lvl>
              </c:multiLvlStrCache>
            </c:multiLvlStrRef>
          </c:cat>
          <c:val>
            <c:numRef>
              <c:f>Sheet1!$B$2:$B$6</c:f>
              <c:numCache>
                <c:formatCode>General</c:formatCode>
                <c:ptCount val="5"/>
                <c:pt idx="0">
                  <c:v>42</c:v>
                </c:pt>
                <c:pt idx="1">
                  <c:v>43</c:v>
                </c:pt>
                <c:pt idx="2">
                  <c:v>39</c:v>
                </c:pt>
                <c:pt idx="3">
                  <c:v>39</c:v>
                </c:pt>
                <c:pt idx="4">
                  <c:v>29</c:v>
                </c:pt>
              </c:numCache>
            </c:numRef>
          </c:val>
        </c:ser>
        <c:ser>
          <c:idx val="1"/>
          <c:order val="1"/>
          <c:tx>
            <c:strRef>
              <c:f>Sheet1!$C$1</c:f>
              <c:strCache>
                <c:ptCount val="1"/>
                <c:pt idx="0">
                  <c:v>Server GC</c:v>
                </c:pt>
              </c:strCache>
            </c:strRef>
          </c:tx>
          <c:spPr>
            <a:solidFill>
              <a:srgbClr val="02C39A"/>
            </a:solidFill>
            <a:effectLst/>
          </c:spPr>
          <c:invertIfNegative val="0"/>
          <c:dLbls>
            <c:numFmt formatCode="0&quot;%&quot;" sourceLinked="0"/>
            <c:txPr>
              <a:bodyPr/>
              <a:lstStyle/>
              <a:p>
                <a:pPr>
                  <a:defRPr b="0" i="0" strike="noStrike" sz="1000" u="none">
                    <a:solidFill>
                      <a:srgbClr val="5A6B7D"/>
                    </a:solidFill>
                    <a:latin typeface="Arial"/>
                  </a:defRPr>
                </a:pPr>
              </a:p>
            </c:txPr>
            <c:showLegendKey val="0"/>
            <c:showVal val="1"/>
            <c:showCatName val="0"/>
            <c:showSerName val="0"/>
            <c:showPercent val="0"/>
            <c:showBubbleSize val="0"/>
            <c:showLeaderLines val="0"/>
          </c:dLbls>
          <c:cat>
            <c:multiLvlStrRef>
              <c:f>Sheet1!$A$2:$A$6</c:f>
              <c:multiLvlStrCache>
                <c:ptCount val="5"/>
                <c:lvl>
                  <c:pt idx="0">
                    <c:v>Chunking</c:v>
                  </c:pt>
                  <c:pt idx="1">
                    <c:v>Árbol</c:v>
                  </c:pt>
                  <c:pt idx="2">
                    <c:v>Acum. locales</c:v>
                  </c:pt>
                  <c:pt idx="3">
                    <c:v>Grano grueso</c:v>
                  </c:pt>
                  <c:pt idx="4">
                    <c:v>Round-robin</c:v>
                  </c:pt>
                </c:lvl>
              </c:multiLvlStrCache>
            </c:multiLvlStrRef>
          </c:cat>
          <c:val>
            <c:numRef>
              <c:f>Sheet1!$C$2:$C$6</c:f>
              <c:numCache>
                <c:formatCode>General</c:formatCode>
                <c:ptCount val="5"/>
                <c:pt idx="0">
                  <c:v>41</c:v>
                </c:pt>
                <c:pt idx="1">
                  <c:v>38</c:v>
                </c:pt>
                <c:pt idx="2">
                  <c:v>35</c:v>
                </c:pt>
                <c:pt idx="3">
                  <c:v>40</c:v>
                </c:pt>
                <c:pt idx="4">
                  <c:v>29</c:v>
                </c:pt>
              </c:numCache>
            </c:numRef>
          </c:val>
        </c:ser>
        <c:dLbls>
          <c:numFmt formatCode="0&quot;%&quot;" sourceLinked="0"/>
          <c:txPr>
            <a:bodyPr/>
            <a:lstStyle/>
            <a:p>
              <a:pPr>
                <a:defRPr b="0" i="0" strike="noStrike" sz="1000" u="none">
                  <a:solidFill>
                    <a:srgbClr val="5A6B7D"/>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3E8EC"/>
            </a:solidFill>
            <a:prstDash val="solid"/>
            <a:round/>
          </a:ln>
        </c:spPr>
        <c:txPr>
          <a:bodyPr/>
          <a:lstStyle/>
          <a:p>
            <a:pPr>
              <a:defRPr sz="1200" b="0" i="0" u="none" strike="noStrike">
                <a:solidFill>
                  <a:srgbClr val="14202E"/>
                </a:solidFill>
                <a:latin typeface="Arial"/>
              </a:defRPr>
            </a:pPr>
            <a:endParaRPr lang="en-US"/>
          </a:p>
        </c:txPr>
        <c:crossAx val="2094734552"/>
        <c:crosses val="autoZero"/>
        <c:auto val="1"/>
        <c:lblAlgn val="ctr"/>
        <c:noMultiLvlLbl val="1"/>
      </c:catAx>
      <c:valAx>
        <c:axId val="2094734552"/>
        <c:scaling>
          <c:orientation val="minMax"/>
          <c:max val="50"/>
        </c:scaling>
        <c:delete val="0"/>
        <c:axPos val="l"/>
        <c:majorGridlines>
          <c:spPr>
            <a:ln w="12700" cap="flat">
              <a:solidFill>
                <a:srgbClr val="E3E8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5A6B7D"/>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A6B7D"/>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Tiempo</c:v>
                </c:pt>
              </c:strCache>
            </c:strRef>
          </c:tx>
          <c:spPr>
            <a:solidFill>
              <a:srgbClr val="00A896"/>
            </a:solidFill>
            <a:effectLst/>
          </c:spPr>
          <c:invertIfNegative val="0"/>
          <c:dLbls>
            <c:numFmt formatCode="0.000&quot;s&quot;" sourceLinked="0"/>
            <c:txPr>
              <a:bodyPr/>
              <a:lstStyle/>
              <a:p>
                <a:pPr>
                  <a:defRPr b="1" i="0" strike="noStrike" sz="1300" u="none">
                    <a:solidFill>
                      <a:srgbClr val="14202E"/>
                    </a:solidFill>
                    <a:latin typeface="Arial"/>
                  </a:defRPr>
                </a:pPr>
              </a:p>
            </c:txPr>
            <c:showLegendKey val="0"/>
            <c:showVal val="1"/>
            <c:showCatName val="0"/>
            <c:showSerName val="0"/>
            <c:showPercent val="0"/>
            <c:showBubbleSize val="0"/>
            <c:showLeaderLines val="0"/>
          </c:dLbls>
          <c:cat>
            <c:multiLvlStrRef>
              <c:f>Sheet1!$A$2:$A$5</c:f>
              <c:multiLvlStrCache>
                <c:ptCount val="4"/>
                <c:lvl>
                  <c:pt idx="0">
                    <c:v>250 K filas
1 hilo</c:v>
                  </c:pt>
                  <c:pt idx="1">
                    <c:v>500 K filas
2 hilos</c:v>
                  </c:pt>
                  <c:pt idx="2">
                    <c:v>1 M filas
4 hilos</c:v>
                  </c:pt>
                  <c:pt idx="3">
                    <c:v>2 M filas
8 hilos</c:v>
                  </c:pt>
                </c:lvl>
              </c:multiLvlStrCache>
            </c:multiLvlStrRef>
          </c:cat>
          <c:val>
            <c:numRef>
              <c:f>Sheet1!$B$2:$B$5</c:f>
              <c:numCache>
                <c:formatCode>General</c:formatCode>
                <c:ptCount val="4"/>
                <c:pt idx="0">
                  <c:v>0.041</c:v>
                </c:pt>
                <c:pt idx="1">
                  <c:v>0.029</c:v>
                </c:pt>
                <c:pt idx="2">
                  <c:v>0.031</c:v>
                </c:pt>
                <c:pt idx="3">
                  <c:v>0.036</c:v>
                </c:pt>
              </c:numCache>
            </c:numRef>
          </c:val>
        </c:ser>
        <c:dLbls>
          <c:numFmt formatCode="0.000&quot;s&quot;" sourceLinked="0"/>
          <c:txPr>
            <a:bodyPr/>
            <a:lstStyle/>
            <a:p>
              <a:pPr>
                <a:defRPr b="1" i="0" strike="noStrike" sz="1300" u="none">
                  <a:solidFill>
                    <a:srgbClr val="14202E"/>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3E8EC"/>
            </a:solidFill>
            <a:prstDash val="solid"/>
            <a:round/>
          </a:ln>
        </c:spPr>
        <c:txPr>
          <a:bodyPr/>
          <a:lstStyle/>
          <a:p>
            <a:pPr>
              <a:defRPr sz="1200" b="0" i="0" u="none" strike="noStrike">
                <a:solidFill>
                  <a:srgbClr val="14202E"/>
                </a:solidFill>
                <a:latin typeface="Arial"/>
              </a:defRPr>
            </a:pPr>
            <a:endParaRPr lang="en-US"/>
          </a:p>
        </c:txPr>
        <c:crossAx val="2094734552"/>
        <c:crosses val="autoZero"/>
        <c:auto val="1"/>
        <c:lblAlgn val="ctr"/>
        <c:noMultiLvlLbl val="1"/>
      </c:catAx>
      <c:valAx>
        <c:axId val="2094734552"/>
        <c:scaling>
          <c:orientation val="minMax"/>
          <c:max val="0.06"/>
        </c:scaling>
        <c:delete val="0"/>
        <c:axPos val="l"/>
        <c:majorGridlines>
          <c:spPr>
            <a:ln w="12700" cap="flat">
              <a:solidFill>
                <a:srgbClr val="E3E8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A6B7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proyecto: un motor de agregacion sobre millones de ventas, usado como banco de pruebas para comparar formas de paralelizar en .NET. El grafico de la derecha resume todo el proyecto: las mismas tres particiones, el mismo trabajo, pero con una estrategia tardan mucho mas que con la otra. Todo lo que sigue explica por 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escenario es un batch nocturno de una cadena de tiendas. Insistir en el punto 3: la intuicion dice que 8 hilos van 8 veces mas rapido, y este proyecto demuestra que eso es falso — con la estrategia equivocada, 8 hilos van MAS LENTO que uno solo. Ese es el gancho.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el punto 3: de nada sirve que una estrategia sea rapida si da un resultado distinto. Por eso hay 61 pruebas que verifican que TODAS las estrategias producen exactamente los mismos totales que el baseline secuencial. Sin eso, comparar tiempos no significa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clave para entender el resto. Las de la izquierda tocan memoria compartida en CADA fila: cinco millones de filas son cinco millones de sincronizaciones. Las de la derecha tocan memoria compartida UNA VEZ por particion: con 8 hilos, ocho sincronizaciones en total. Esa es toda la diferencia.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dato no se estima: el codigo mide con un Stopwatch cuanto tarda cada hilo en conseguir el candado, y lo suma. La analogia util: ocho cajeros pero una sola caja registradora — mientras mas cajeros pongo, mas larga es la fila para usarla. Agregar hilos empeora el problema en vez de resolverlo.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salto visual entre el bloque rojo y el verde es el resultado principal. Round-robin esta en ambar porque, aun estando en la familia buena, pierde 20 puntos frente a las otras cuatro: reparte las filas salteadas y eso arruina la localidad de cache. Mismo algoritmo de reduccion, solo cambia como se recorre el arreglo.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parte mas honesta del trabajo. El error 1 es el importante: se habia escrito en el reporte que una estrategia era la ganadora, y al repetir la medicion resulto que no. Reconocerlo y corregirlo vale mas que el numero en si — es la diferencia entre medir y adivinar.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momento mas importante de la presentacion. El proyecto no solo midio: se audito a si mismo y encontro que su propia herramienta estaba mal calibrada. La pista fue una cifra que no podia existir — eficiencia mayor al 100% con un solo hilo. Sin repetir las mediciones, ese error no habria aparecido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diferencia entre lo que se cayo y lo que se sostuvo. Los valores absolutos estaban inflados y la mejora por Server GC era pura ilusion; pero la comparacion ENTRE estrategias seguia siendo valida, porque todas se dividian entre el mismo baseline malo y el error se cancelaba. Esa distincion es la parte fina del analisis.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Escalabilidad debil es la prueba que importa para un sistema real: si el negocio crece y hay que procesar el doble de ventas, basta con poner el doble de hilos y el batch sigue terminando a tiempo. Las barras son practicamente iguales aunque la ultima procesa ocho veces mas datos que la primera.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1 y la 3. La 1 es el resultado tecnico: el problema nunca fue 'usar hilos', fue cada cuanto se sincronizan. La 3 es el aprendizaje de metodo, y probablemente lo mas transferible a cualquier otro trabajo: un numero medido una sola vez no es un resultado, es una anecdota.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mencionando que todo es reproducible: los comandos exactos estan en el README, el dataset se genera con semilla fija, y el REPORTE.md incluye las corridas crudas, incluida la conclusion que hubo que corregir. Abrir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p:bgPr>
    </p:bg>
    <p:spTree>
      <p:nvGrpSpPr>
        <p:cNvPr id="1" name=""/>
        <p:cNvGrpSpPr/>
        <p:nvPr/>
      </p:nvGrpSpPr>
      <p:grpSpPr>
        <a:xfrm>
          <a:off x="0" y="0"/>
          <a:ext cx="0" cy="0"/>
          <a:chOff x="0" y="0"/>
          <a:chExt cx="0" cy="0"/>
        </a:xfrm>
      </p:grpSpPr>
      <p:sp>
        <p:nvSpPr>
          <p:cNvPr id="2" name="Text 0"/>
          <p:cNvSpPr/>
          <p:nvPr/>
        </p:nvSpPr>
        <p:spPr>
          <a:xfrm>
            <a:off x="731520" y="1417320"/>
            <a:ext cx="6035040"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PROGRAMACIÓN PARALELA  ·  .NET 8  ·  ENTREGA 21 DE AGOSTO</a:t>
            </a:r>
            <a:endParaRPr lang="en-US" sz="1200" dirty="0"/>
          </a:p>
        </p:txBody>
      </p:sp>
      <p:sp>
        <p:nvSpPr>
          <p:cNvPr id="3" name="Text 1"/>
          <p:cNvSpPr/>
          <p:nvPr/>
        </p:nvSpPr>
        <p:spPr>
          <a:xfrm>
            <a:off x="713232" y="1783080"/>
            <a:ext cx="603504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VentasParalelo</a:t>
            </a:r>
            <a:endParaRPr lang="en-US" sz="5200" dirty="0"/>
          </a:p>
        </p:txBody>
      </p:sp>
      <p:sp>
        <p:nvSpPr>
          <p:cNvPr id="4" name="Text 2"/>
          <p:cNvSpPr/>
          <p:nvPr/>
        </p:nvSpPr>
        <p:spPr>
          <a:xfrm>
            <a:off x="731520" y="2834640"/>
            <a:ext cx="5760720" cy="1005840"/>
          </a:xfrm>
          <a:prstGeom prst="rect">
            <a:avLst/>
          </a:prstGeom>
          <a:noFill/>
          <a:ln/>
        </p:spPr>
        <p:txBody>
          <a:bodyPr wrap="square" lIns="0" tIns="0" rIns="0" bIns="0" rtlCol="0" anchor="ctr"/>
          <a:lstStyle/>
          <a:p>
            <a:pPr indent="0" marL="0">
              <a:lnSpc>
                <a:spcPts val="2600"/>
              </a:lnSpc>
              <a:buNone/>
            </a:pPr>
            <a:r>
              <a:rPr lang="en-US" sz="1800" dirty="0">
                <a:solidFill>
                  <a:srgbClr val="9BB0C4"/>
                </a:solidFill>
                <a:latin typeface="Calibri" pitchFamily="34" charset="0"/>
                <a:ea typeface="Calibri" pitchFamily="34" charset="-122"/>
                <a:cs typeface="Calibri" pitchFamily="34" charset="-120"/>
              </a:rPr>
              <a:t>Agregación analítica de millones de transacciones de venta: ¿cuál es la forma correcta de paralelizar?</a:t>
            </a:r>
            <a:endParaRPr lang="en-US" sz="1800" dirty="0"/>
          </a:p>
        </p:txBody>
      </p:sp>
      <p:sp>
        <p:nvSpPr>
          <p:cNvPr id="5" name="Text 3"/>
          <p:cNvSpPr/>
          <p:nvPr/>
        </p:nvSpPr>
        <p:spPr>
          <a:xfrm>
            <a:off x="731520" y="5394960"/>
            <a:ext cx="6035040" cy="274320"/>
          </a:xfrm>
          <a:prstGeom prst="rect">
            <a:avLst/>
          </a:prstGeom>
          <a:noFill/>
          <a:ln/>
        </p:spPr>
        <p:txBody>
          <a:bodyPr wrap="square" lIns="0" tIns="0" rIns="0" bIns="0" rtlCol="0" anchor="ctr"/>
          <a:lstStyle/>
          <a:p>
            <a:pPr indent="0" marL="0">
              <a:buNone/>
            </a:pPr>
            <a:r>
              <a:rPr lang="en-US" sz="1300" dirty="0">
                <a:solidFill>
                  <a:srgbClr val="9BB0C4"/>
                </a:solidFill>
                <a:latin typeface="Calibri" pitchFamily="34" charset="0"/>
                <a:ea typeface="Calibri" pitchFamily="34" charset="-122"/>
                <a:cs typeface="Calibri" pitchFamily="34" charset="-120"/>
              </a:rPr>
              <a:t>Israel  ·  github.com/IsraelDev-var/VentasParalelo</a:t>
            </a:r>
            <a:endParaRPr lang="en-US" sz="1300" dirty="0"/>
          </a:p>
        </p:txBody>
      </p:sp>
      <p:sp>
        <p:nvSpPr>
          <p:cNvPr id="6" name="Text 4"/>
          <p:cNvSpPr/>
          <p:nvPr/>
        </p:nvSpPr>
        <p:spPr>
          <a:xfrm>
            <a:off x="7360920" y="1417320"/>
            <a:ext cx="4206240" cy="274320"/>
          </a:xfrm>
          <a:prstGeom prst="rect">
            <a:avLst/>
          </a:prstGeom>
          <a:noFill/>
          <a:ln/>
        </p:spPr>
        <p:txBody>
          <a:bodyPr wrap="square" lIns="0" tIns="0" rIns="0" bIns="0" rtlCol="0" anchor="ctr"/>
          <a:lstStyle/>
          <a:p>
            <a:pPr indent="0" marL="0">
              <a:buNone/>
            </a:pPr>
            <a:r>
              <a:rPr lang="en-US" sz="1100" b="1" spc="150" kern="0" dirty="0">
                <a:solidFill>
                  <a:srgbClr val="9BB0C4"/>
                </a:solidFill>
                <a:latin typeface="Calibri" pitchFamily="34" charset="0"/>
                <a:ea typeface="Calibri" pitchFamily="34" charset="-122"/>
                <a:cs typeface="Calibri" pitchFamily="34" charset="-120"/>
              </a:rPr>
              <a:t>MISMO TRABAJO, DOS ESTRATEGIAS</a:t>
            </a:r>
            <a:endParaRPr lang="en-US" sz="1100" dirty="0"/>
          </a:p>
        </p:txBody>
      </p:sp>
      <p:sp>
        <p:nvSpPr>
          <p:cNvPr id="7" name="Text 5"/>
          <p:cNvSpPr/>
          <p:nvPr/>
        </p:nvSpPr>
        <p:spPr>
          <a:xfrm>
            <a:off x="7360920" y="1828800"/>
            <a:ext cx="4206240" cy="256032"/>
          </a:xfrm>
          <a:prstGeom prst="rect">
            <a:avLst/>
          </a:prstGeom>
          <a:noFill/>
          <a:ln/>
        </p:spPr>
        <p:txBody>
          <a:bodyPr wrap="square" lIns="0" tIns="0" rIns="0" bIns="0" rtlCol="0" anchor="ctr"/>
          <a:lstStyle/>
          <a:p>
            <a:pPr indent="0" marL="0">
              <a:buNone/>
            </a:pPr>
            <a:r>
              <a:rPr lang="en-US" sz="1300" b="1" dirty="0">
                <a:solidFill>
                  <a:srgbClr val="E94F4F"/>
                </a:solidFill>
                <a:latin typeface="Calibri" pitchFamily="34" charset="0"/>
                <a:ea typeface="Calibri" pitchFamily="34" charset="-122"/>
                <a:cs typeface="Calibri" pitchFamily="34" charset="-120"/>
              </a:rPr>
              <a:t>lock global por fila</a:t>
            </a:r>
            <a:endParaRPr lang="en-US" sz="1300" dirty="0"/>
          </a:p>
        </p:txBody>
      </p:sp>
      <p:sp>
        <p:nvSpPr>
          <p:cNvPr id="8" name="Shape 6"/>
          <p:cNvSpPr/>
          <p:nvPr/>
        </p:nvSpPr>
        <p:spPr>
          <a:xfrm>
            <a:off x="7360920" y="2157984"/>
            <a:ext cx="4160520" cy="210312"/>
          </a:xfrm>
          <a:prstGeom prst="roundRect">
            <a:avLst>
              <a:gd name="adj" fmla="val 217391"/>
            </a:avLst>
          </a:prstGeom>
          <a:solidFill>
            <a:srgbClr val="E94F4F"/>
          </a:solidFill>
          <a:ln w="12700">
            <a:solidFill>
              <a:srgbClr val="E94F4F"/>
            </a:solidFill>
            <a:prstDash val="solid"/>
          </a:ln>
        </p:spPr>
      </p:sp>
      <p:sp>
        <p:nvSpPr>
          <p:cNvPr id="9" name="Shape 7"/>
          <p:cNvSpPr/>
          <p:nvPr/>
        </p:nvSpPr>
        <p:spPr>
          <a:xfrm>
            <a:off x="7360920" y="2468880"/>
            <a:ext cx="4297680" cy="210312"/>
          </a:xfrm>
          <a:prstGeom prst="roundRect">
            <a:avLst>
              <a:gd name="adj" fmla="val 217391"/>
            </a:avLst>
          </a:prstGeom>
          <a:solidFill>
            <a:srgbClr val="E94F4F"/>
          </a:solidFill>
          <a:ln w="12700">
            <a:solidFill>
              <a:srgbClr val="E94F4F"/>
            </a:solidFill>
            <a:prstDash val="solid"/>
          </a:ln>
        </p:spPr>
      </p:sp>
      <p:sp>
        <p:nvSpPr>
          <p:cNvPr id="10" name="Shape 8"/>
          <p:cNvSpPr/>
          <p:nvPr/>
        </p:nvSpPr>
        <p:spPr>
          <a:xfrm>
            <a:off x="7360920" y="2779776"/>
            <a:ext cx="4023360" cy="210312"/>
          </a:xfrm>
          <a:prstGeom prst="roundRect">
            <a:avLst>
              <a:gd name="adj" fmla="val 217391"/>
            </a:avLst>
          </a:prstGeom>
          <a:solidFill>
            <a:srgbClr val="E94F4F"/>
          </a:solidFill>
          <a:ln w="12700">
            <a:solidFill>
              <a:srgbClr val="E94F4F"/>
            </a:solidFill>
            <a:prstDash val="solid"/>
          </a:ln>
        </p:spPr>
      </p:sp>
      <p:sp>
        <p:nvSpPr>
          <p:cNvPr id="11" name="Text 9"/>
          <p:cNvSpPr/>
          <p:nvPr/>
        </p:nvSpPr>
        <p:spPr>
          <a:xfrm>
            <a:off x="7360920" y="3310128"/>
            <a:ext cx="4206240" cy="256032"/>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acumuladores locales</a:t>
            </a:r>
            <a:endParaRPr lang="en-US" sz="1300" dirty="0"/>
          </a:p>
        </p:txBody>
      </p:sp>
      <p:sp>
        <p:nvSpPr>
          <p:cNvPr id="12" name="Shape 10"/>
          <p:cNvSpPr/>
          <p:nvPr/>
        </p:nvSpPr>
        <p:spPr>
          <a:xfrm>
            <a:off x="7360920" y="3639312"/>
            <a:ext cx="658368" cy="210312"/>
          </a:xfrm>
          <a:prstGeom prst="roundRect">
            <a:avLst>
              <a:gd name="adj" fmla="val 217391"/>
            </a:avLst>
          </a:prstGeom>
          <a:solidFill>
            <a:srgbClr val="02C39A"/>
          </a:solidFill>
          <a:ln w="12700">
            <a:solidFill>
              <a:srgbClr val="02C39A"/>
            </a:solidFill>
            <a:prstDash val="solid"/>
          </a:ln>
        </p:spPr>
      </p:sp>
      <p:sp>
        <p:nvSpPr>
          <p:cNvPr id="13" name="Shape 11"/>
          <p:cNvSpPr/>
          <p:nvPr/>
        </p:nvSpPr>
        <p:spPr>
          <a:xfrm>
            <a:off x="7360920" y="3950208"/>
            <a:ext cx="713232" cy="210312"/>
          </a:xfrm>
          <a:prstGeom prst="roundRect">
            <a:avLst>
              <a:gd name="adj" fmla="val 217391"/>
            </a:avLst>
          </a:prstGeom>
          <a:solidFill>
            <a:srgbClr val="02C39A"/>
          </a:solidFill>
          <a:ln w="12700">
            <a:solidFill>
              <a:srgbClr val="02C39A"/>
            </a:solidFill>
            <a:prstDash val="solid"/>
          </a:ln>
        </p:spPr>
      </p:sp>
      <p:sp>
        <p:nvSpPr>
          <p:cNvPr id="14" name="Shape 12"/>
          <p:cNvSpPr/>
          <p:nvPr/>
        </p:nvSpPr>
        <p:spPr>
          <a:xfrm>
            <a:off x="7360920" y="4261104"/>
            <a:ext cx="630936" cy="210312"/>
          </a:xfrm>
          <a:prstGeom prst="roundRect">
            <a:avLst>
              <a:gd name="adj" fmla="val 217391"/>
            </a:avLst>
          </a:prstGeom>
          <a:solidFill>
            <a:srgbClr val="02C39A"/>
          </a:solidFill>
          <a:ln w="12700">
            <a:solidFill>
              <a:srgbClr val="02C39A"/>
            </a:solidFill>
            <a:prstDash val="solid"/>
          </a:ln>
        </p:spPr>
      </p:sp>
      <p:sp>
        <p:nvSpPr>
          <p:cNvPr id="15" name="Shape 13"/>
          <p:cNvSpPr/>
          <p:nvPr/>
        </p:nvSpPr>
        <p:spPr>
          <a:xfrm>
            <a:off x="7360920" y="4681728"/>
            <a:ext cx="4206240" cy="0"/>
          </a:xfrm>
          <a:prstGeom prst="line">
            <a:avLst/>
          </a:prstGeom>
          <a:noFill/>
          <a:ln w="12700">
            <a:solidFill>
              <a:srgbClr val="3A4C61"/>
            </a:solidFill>
            <a:prstDash val="solid"/>
          </a:ln>
        </p:spPr>
      </p:sp>
      <p:sp>
        <p:nvSpPr>
          <p:cNvPr id="16" name="Text 14"/>
          <p:cNvSpPr/>
          <p:nvPr/>
        </p:nvSpPr>
        <p:spPr>
          <a:xfrm>
            <a:off x="7360920" y="4736592"/>
            <a:ext cx="4206240" cy="256032"/>
          </a:xfrm>
          <a:prstGeom prst="rect">
            <a:avLst/>
          </a:prstGeom>
          <a:noFill/>
          <a:ln/>
        </p:spPr>
        <p:txBody>
          <a:bodyPr wrap="square" lIns="0" tIns="0" rIns="0" bIns="0" rtlCol="0" anchor="ctr"/>
          <a:lstStyle/>
          <a:p>
            <a:pPr indent="0" marL="0">
              <a:buNone/>
            </a:pPr>
            <a:r>
              <a:rPr lang="en-US" sz="1100" i="1" dirty="0">
                <a:solidFill>
                  <a:srgbClr val="9BB0C4"/>
                </a:solidFill>
                <a:latin typeface="Calibri" pitchFamily="34" charset="0"/>
                <a:ea typeface="Calibri" pitchFamily="34" charset="-122"/>
                <a:cs typeface="Calibri" pitchFamily="34" charset="-120"/>
              </a:rPr>
              <a:t>tiempo transcurrido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58368" y="182880"/>
            <a:ext cx="10881360" cy="274320"/>
          </a:xfrm>
          <a:prstGeom prst="rect">
            <a:avLst/>
          </a:prstGeom>
          <a:noFill/>
          <a:ln/>
        </p:spPr>
        <p:txBody>
          <a:bodyPr wrap="square" lIns="0" tIns="0" rIns="0" bIns="0" rtlCol="0" anchor="ctr"/>
          <a:lstStyle/>
          <a:p>
            <a:pPr indent="0" marL="0">
              <a:buNone/>
            </a:pPr>
            <a:r>
              <a:rPr lang="en-US" sz="1200" b="1" spc="200" kern="0" dirty="0">
                <a:solidFill>
                  <a:srgbClr val="E94F4F"/>
                </a:solidFill>
                <a:latin typeface="Calibri" pitchFamily="34" charset="0"/>
                <a:ea typeface="Calibri" pitchFamily="34" charset="-122"/>
                <a:cs typeface="Calibri" pitchFamily="34" charset="-120"/>
              </a:rPr>
              <a:t>CONTEXTO</a:t>
            </a:r>
            <a:endParaRPr lang="en-US" sz="1200" dirty="0"/>
          </a:p>
        </p:txBody>
      </p:sp>
      <p:sp>
        <p:nvSpPr>
          <p:cNvPr id="3" name="Text 1"/>
          <p:cNvSpPr/>
          <p:nvPr/>
        </p:nvSpPr>
        <p:spPr>
          <a:xfrm>
            <a:off x="640080" y="411480"/>
            <a:ext cx="10972800" cy="685800"/>
          </a:xfrm>
          <a:prstGeom prst="rect">
            <a:avLst/>
          </a:prstGeom>
          <a:noFill/>
          <a:ln/>
        </p:spPr>
        <p:txBody>
          <a:bodyPr wrap="square" lIns="0" tIns="0" rIns="0" bIns="0" rtlCol="0" anchor="ctr"/>
          <a:lstStyle/>
          <a:p>
            <a:pPr algn="l" indent="0" marL="0">
              <a:buNone/>
            </a:pPr>
            <a:r>
              <a:rPr lang="en-US" sz="3800" b="1" dirty="0">
                <a:solidFill>
                  <a:srgbClr val="14202E"/>
                </a:solidFill>
                <a:latin typeface="Cambria" pitchFamily="34" charset="0"/>
                <a:ea typeface="Cambria" pitchFamily="34" charset="-122"/>
                <a:cs typeface="Cambria" pitchFamily="34" charset="-120"/>
              </a:rPr>
              <a:t>La problemática</a:t>
            </a:r>
            <a:endParaRPr lang="en-US" sz="3800" dirty="0"/>
          </a:p>
        </p:txBody>
      </p:sp>
      <p:sp>
        <p:nvSpPr>
          <p:cNvPr id="4" name="Text 2"/>
          <p:cNvSpPr/>
          <p:nvPr/>
        </p:nvSpPr>
        <p:spPr>
          <a:xfrm>
            <a:off x="658368" y="1207008"/>
            <a:ext cx="6949440" cy="777240"/>
          </a:xfrm>
          <a:prstGeom prst="rect">
            <a:avLst/>
          </a:prstGeom>
          <a:noFill/>
          <a:ln/>
        </p:spPr>
        <p:txBody>
          <a:bodyPr wrap="square" lIns="0" tIns="0" rIns="0" bIns="0" rtlCol="0" anchor="ctr"/>
          <a:lstStyle/>
          <a:p>
            <a:pPr indent="0" marL="0">
              <a:lnSpc>
                <a:spcPts val="2200"/>
              </a:lnSpc>
              <a:buNone/>
            </a:pPr>
            <a:r>
              <a:rPr lang="en-US" sz="1500" dirty="0">
                <a:solidFill>
                  <a:srgbClr val="5A6B7D"/>
                </a:solidFill>
                <a:latin typeface="Calibri" pitchFamily="34" charset="0"/>
                <a:ea typeface="Calibri" pitchFamily="34" charset="-122"/>
                <a:cs typeface="Calibri" pitchFamily="34" charset="-120"/>
              </a:rPr>
              <a:t>Una cadena de tiendas cierra el día con millones de transacciones de punto de venta. Cada noche hay que agregarlas para la reportería del día siguiente.</a:t>
            </a:r>
            <a:endParaRPr lang="en-US" sz="1500" dirty="0"/>
          </a:p>
        </p:txBody>
      </p:sp>
      <p:sp>
        <p:nvSpPr>
          <p:cNvPr id="5" name="Shape 3"/>
          <p:cNvSpPr/>
          <p:nvPr/>
        </p:nvSpPr>
        <p:spPr>
          <a:xfrm>
            <a:off x="640080" y="2212848"/>
            <a:ext cx="7040880" cy="987552"/>
          </a:xfrm>
          <a:prstGeom prst="roundRect">
            <a:avLst>
              <a:gd name="adj" fmla="val 7407"/>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6" name="Shape 4"/>
          <p:cNvSpPr/>
          <p:nvPr/>
        </p:nvSpPr>
        <p:spPr>
          <a:xfrm>
            <a:off x="914400" y="2478024"/>
            <a:ext cx="457200" cy="457200"/>
          </a:xfrm>
          <a:prstGeom prst="ellipse">
            <a:avLst/>
          </a:prstGeom>
          <a:solidFill>
            <a:srgbClr val="14202E"/>
          </a:solidFill>
          <a:ln w="12700">
            <a:solidFill>
              <a:srgbClr val="14202E"/>
            </a:solidFill>
            <a:prstDash val="solid"/>
          </a:ln>
        </p:spPr>
      </p:sp>
      <p:sp>
        <p:nvSpPr>
          <p:cNvPr id="7" name="Text 5"/>
          <p:cNvSpPr/>
          <p:nvPr/>
        </p:nvSpPr>
        <p:spPr>
          <a:xfrm>
            <a:off x="914400" y="2478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536192" y="2368296"/>
            <a:ext cx="5943600" cy="292608"/>
          </a:xfrm>
          <a:prstGeom prst="rect">
            <a:avLst/>
          </a:prstGeom>
          <a:noFill/>
          <a:ln/>
        </p:spPr>
        <p:txBody>
          <a:bodyPr wrap="square" lIns="0" tIns="0" rIns="0" bIns="0" rtlCol="0" anchor="ctr"/>
          <a:lstStyle/>
          <a:p>
            <a:pPr indent="0" marL="0">
              <a:buNone/>
            </a:pPr>
            <a:r>
              <a:rPr lang="en-US" sz="1500" b="1" dirty="0">
                <a:solidFill>
                  <a:srgbClr val="14202E"/>
                </a:solidFill>
                <a:latin typeface="Calibri" pitchFamily="34" charset="0"/>
                <a:ea typeface="Calibri" pitchFamily="34" charset="-122"/>
                <a:cs typeface="Calibri" pitchFamily="34" charset="-120"/>
              </a:rPr>
              <a:t>El volumen crece</a:t>
            </a:r>
            <a:endParaRPr lang="en-US" sz="1500" dirty="0"/>
          </a:p>
        </p:txBody>
      </p:sp>
      <p:sp>
        <p:nvSpPr>
          <p:cNvPr id="9" name="Text 7"/>
          <p:cNvSpPr/>
          <p:nvPr/>
        </p:nvSpPr>
        <p:spPr>
          <a:xfrm>
            <a:off x="1536192" y="2670048"/>
            <a:ext cx="5943600" cy="457200"/>
          </a:xfrm>
          <a:prstGeom prst="rect">
            <a:avLst/>
          </a:prstGeom>
          <a:noFill/>
          <a:ln/>
        </p:spPr>
        <p:txBody>
          <a:bodyPr wrap="square" lIns="0" tIns="0" rIns="0" bIns="0" rtlCol="0" anchor="ctr"/>
          <a:lstStyle/>
          <a:p>
            <a:pPr indent="0" marL="0">
              <a:lnSpc>
                <a:spcPts val="1500"/>
              </a:lnSpc>
              <a:buNone/>
            </a:pPr>
            <a:r>
              <a:rPr lang="en-US" sz="1200" dirty="0">
                <a:solidFill>
                  <a:srgbClr val="5A6B7D"/>
                </a:solidFill>
                <a:latin typeface="Calibri" pitchFamily="34" charset="0"/>
                <a:ea typeface="Calibri" pitchFamily="34" charset="-122"/>
                <a:cs typeface="Calibri" pitchFamily="34" charset="-120"/>
              </a:rPr>
              <a:t>5 millones de filas hoy; 20 millones el año que viene. El proceso secuencial escala linealmente con el volumen.</a:t>
            </a:r>
            <a:endParaRPr lang="en-US" sz="1200" dirty="0"/>
          </a:p>
        </p:txBody>
      </p:sp>
      <p:sp>
        <p:nvSpPr>
          <p:cNvPr id="10" name="Shape 8"/>
          <p:cNvSpPr/>
          <p:nvPr/>
        </p:nvSpPr>
        <p:spPr>
          <a:xfrm>
            <a:off x="640080" y="3346704"/>
            <a:ext cx="7040880" cy="987552"/>
          </a:xfrm>
          <a:prstGeom prst="roundRect">
            <a:avLst>
              <a:gd name="adj" fmla="val 7407"/>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11" name="Shape 9"/>
          <p:cNvSpPr/>
          <p:nvPr/>
        </p:nvSpPr>
        <p:spPr>
          <a:xfrm>
            <a:off x="914400" y="3611880"/>
            <a:ext cx="457200" cy="457200"/>
          </a:xfrm>
          <a:prstGeom prst="ellipse">
            <a:avLst/>
          </a:prstGeom>
          <a:solidFill>
            <a:srgbClr val="14202E"/>
          </a:solidFill>
          <a:ln w="12700">
            <a:solidFill>
              <a:srgbClr val="14202E"/>
            </a:solidFill>
            <a:prstDash val="solid"/>
          </a:ln>
        </p:spPr>
      </p:sp>
      <p:sp>
        <p:nvSpPr>
          <p:cNvPr id="12" name="Text 10"/>
          <p:cNvSpPr/>
          <p:nvPr/>
        </p:nvSpPr>
        <p:spPr>
          <a:xfrm>
            <a:off x="9144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36192" y="3502152"/>
            <a:ext cx="5943600" cy="292608"/>
          </a:xfrm>
          <a:prstGeom prst="rect">
            <a:avLst/>
          </a:prstGeom>
          <a:noFill/>
          <a:ln/>
        </p:spPr>
        <p:txBody>
          <a:bodyPr wrap="square" lIns="0" tIns="0" rIns="0" bIns="0" rtlCol="0" anchor="ctr"/>
          <a:lstStyle/>
          <a:p>
            <a:pPr indent="0" marL="0">
              <a:buNone/>
            </a:pPr>
            <a:r>
              <a:rPr lang="en-US" sz="1500" b="1" dirty="0">
                <a:solidFill>
                  <a:srgbClr val="14202E"/>
                </a:solidFill>
                <a:latin typeface="Calibri" pitchFamily="34" charset="0"/>
                <a:ea typeface="Calibri" pitchFamily="34" charset="-122"/>
                <a:cs typeface="Calibri" pitchFamily="34" charset="-120"/>
              </a:rPr>
              <a:t>Hay una ventana fija</a:t>
            </a:r>
            <a:endParaRPr lang="en-US" sz="1500" dirty="0"/>
          </a:p>
        </p:txBody>
      </p:sp>
      <p:sp>
        <p:nvSpPr>
          <p:cNvPr id="14" name="Text 12"/>
          <p:cNvSpPr/>
          <p:nvPr/>
        </p:nvSpPr>
        <p:spPr>
          <a:xfrm>
            <a:off x="1536192" y="3803904"/>
            <a:ext cx="5943600" cy="457200"/>
          </a:xfrm>
          <a:prstGeom prst="rect">
            <a:avLst/>
          </a:prstGeom>
          <a:noFill/>
          <a:ln/>
        </p:spPr>
        <p:txBody>
          <a:bodyPr wrap="square" lIns="0" tIns="0" rIns="0" bIns="0" rtlCol="0" anchor="ctr"/>
          <a:lstStyle/>
          <a:p>
            <a:pPr indent="0" marL="0">
              <a:lnSpc>
                <a:spcPts val="1500"/>
              </a:lnSpc>
              <a:buNone/>
            </a:pPr>
            <a:r>
              <a:rPr lang="en-US" sz="1200" dirty="0">
                <a:solidFill>
                  <a:srgbClr val="5A6B7D"/>
                </a:solidFill>
                <a:latin typeface="Calibri" pitchFamily="34" charset="0"/>
                <a:ea typeface="Calibri" pitchFamily="34" charset="-122"/>
                <a:cs typeface="Calibri" pitchFamily="34" charset="-120"/>
              </a:rPr>
              <a:t>El batch nocturno tiene que terminar antes de que abran las tiendas. No se puede simplemente tardar más.</a:t>
            </a:r>
            <a:endParaRPr lang="en-US" sz="1200" dirty="0"/>
          </a:p>
        </p:txBody>
      </p:sp>
      <p:sp>
        <p:nvSpPr>
          <p:cNvPr id="15" name="Shape 13"/>
          <p:cNvSpPr/>
          <p:nvPr/>
        </p:nvSpPr>
        <p:spPr>
          <a:xfrm>
            <a:off x="640080" y="4480560"/>
            <a:ext cx="7040880" cy="987552"/>
          </a:xfrm>
          <a:prstGeom prst="roundRect">
            <a:avLst>
              <a:gd name="adj" fmla="val 7407"/>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16" name="Shape 14"/>
          <p:cNvSpPr/>
          <p:nvPr/>
        </p:nvSpPr>
        <p:spPr>
          <a:xfrm>
            <a:off x="914400" y="4745736"/>
            <a:ext cx="457200" cy="457200"/>
          </a:xfrm>
          <a:prstGeom prst="ellipse">
            <a:avLst/>
          </a:prstGeom>
          <a:solidFill>
            <a:srgbClr val="E94F4F"/>
          </a:solidFill>
          <a:ln w="12700">
            <a:solidFill>
              <a:srgbClr val="E94F4F"/>
            </a:solidFill>
            <a:prstDash val="solid"/>
          </a:ln>
        </p:spPr>
      </p:sp>
      <p:sp>
        <p:nvSpPr>
          <p:cNvPr id="17" name="Text 15"/>
          <p:cNvSpPr/>
          <p:nvPr/>
        </p:nvSpPr>
        <p:spPr>
          <a:xfrm>
            <a:off x="914400" y="474573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536192" y="4636008"/>
            <a:ext cx="5943600" cy="292608"/>
          </a:xfrm>
          <a:prstGeom prst="rect">
            <a:avLst/>
          </a:prstGeom>
          <a:noFill/>
          <a:ln/>
        </p:spPr>
        <p:txBody>
          <a:bodyPr wrap="square" lIns="0" tIns="0" rIns="0" bIns="0" rtlCol="0" anchor="ctr"/>
          <a:lstStyle/>
          <a:p>
            <a:pPr indent="0" marL="0">
              <a:buNone/>
            </a:pPr>
            <a:r>
              <a:rPr lang="en-US" sz="1500" b="1" dirty="0">
                <a:solidFill>
                  <a:srgbClr val="14202E"/>
                </a:solidFill>
                <a:latin typeface="Calibri" pitchFamily="34" charset="0"/>
                <a:ea typeface="Calibri" pitchFamily="34" charset="-122"/>
                <a:cs typeface="Calibri" pitchFamily="34" charset="-120"/>
              </a:rPr>
              <a:t>Paralelizar no es gratis</a:t>
            </a:r>
            <a:endParaRPr lang="en-US" sz="1500" dirty="0"/>
          </a:p>
        </p:txBody>
      </p:sp>
      <p:sp>
        <p:nvSpPr>
          <p:cNvPr id="19" name="Text 17"/>
          <p:cNvSpPr/>
          <p:nvPr/>
        </p:nvSpPr>
        <p:spPr>
          <a:xfrm>
            <a:off x="1536192" y="4937760"/>
            <a:ext cx="5943600" cy="457200"/>
          </a:xfrm>
          <a:prstGeom prst="rect">
            <a:avLst/>
          </a:prstGeom>
          <a:noFill/>
          <a:ln/>
        </p:spPr>
        <p:txBody>
          <a:bodyPr wrap="square" lIns="0" tIns="0" rIns="0" bIns="0" rtlCol="0" anchor="ctr"/>
          <a:lstStyle/>
          <a:p>
            <a:pPr indent="0" marL="0">
              <a:lnSpc>
                <a:spcPts val="1500"/>
              </a:lnSpc>
              <a:buNone/>
            </a:pPr>
            <a:r>
              <a:rPr lang="en-US" sz="1200" dirty="0">
                <a:solidFill>
                  <a:srgbClr val="5A6B7D"/>
                </a:solidFill>
                <a:latin typeface="Calibri" pitchFamily="34" charset="0"/>
                <a:ea typeface="Calibri" pitchFamily="34" charset="-122"/>
                <a:cs typeface="Calibri" pitchFamily="34" charset="-120"/>
              </a:rPr>
              <a:t>Repartir el trabajo entre 8 hilos no garantiza ir 8 veces más rápido — y mal hecho, va más lento que con 1 solo hilo.</a:t>
            </a:r>
            <a:endParaRPr lang="en-US" sz="1200" dirty="0"/>
          </a:p>
        </p:txBody>
      </p:sp>
      <p:sp>
        <p:nvSpPr>
          <p:cNvPr id="20" name="Shape 18"/>
          <p:cNvSpPr/>
          <p:nvPr/>
        </p:nvSpPr>
        <p:spPr>
          <a:xfrm>
            <a:off x="8001000" y="1207008"/>
            <a:ext cx="3547872" cy="4480560"/>
          </a:xfrm>
          <a:prstGeom prst="roundRect">
            <a:avLst>
              <a:gd name="adj" fmla="val 2062"/>
            </a:avLst>
          </a:prstGeom>
          <a:solidFill>
            <a:srgbClr val="14202E"/>
          </a:solidFill>
          <a:ln w="12700">
            <a:solidFill>
              <a:srgbClr val="14202E"/>
            </a:solidFill>
            <a:prstDash val="solid"/>
          </a:ln>
          <a:effectLst>
            <a:outerShdw sx="100000" sy="100000" kx="0" ky="0" algn="bl" rotWithShape="0" blurRad="127000" dist="25400" dir="5400000">
              <a:srgbClr val="9AA9B8">
                <a:alpha val="22000"/>
              </a:srgbClr>
            </a:outerShdw>
          </a:effectLst>
        </p:spPr>
      </p:sp>
      <p:sp>
        <p:nvSpPr>
          <p:cNvPr id="21" name="Text 19"/>
          <p:cNvSpPr/>
          <p:nvPr/>
        </p:nvSpPr>
        <p:spPr>
          <a:xfrm>
            <a:off x="8321040" y="1536192"/>
            <a:ext cx="2926080" cy="274320"/>
          </a:xfrm>
          <a:prstGeom prst="rect">
            <a:avLst/>
          </a:prstGeom>
          <a:noFill/>
          <a:ln/>
        </p:spPr>
        <p:txBody>
          <a:bodyPr wrap="square" lIns="0" tIns="0" rIns="0" bIns="0" rtlCol="0" anchor="ctr"/>
          <a:lstStyle/>
          <a:p>
            <a:pPr indent="0" marL="0">
              <a:buNone/>
            </a:pPr>
            <a:r>
              <a:rPr lang="en-US" sz="1100" b="1" spc="150" kern="0" dirty="0">
                <a:solidFill>
                  <a:srgbClr val="02C39A"/>
                </a:solidFill>
                <a:latin typeface="Calibri" pitchFamily="34" charset="0"/>
                <a:ea typeface="Calibri" pitchFamily="34" charset="-122"/>
                <a:cs typeface="Calibri" pitchFamily="34" charset="-120"/>
              </a:rPr>
              <a:t>LA PREGUNTA</a:t>
            </a:r>
            <a:endParaRPr lang="en-US" sz="1100" dirty="0"/>
          </a:p>
        </p:txBody>
      </p:sp>
      <p:sp>
        <p:nvSpPr>
          <p:cNvPr id="22" name="Text 20"/>
          <p:cNvSpPr/>
          <p:nvPr/>
        </p:nvSpPr>
        <p:spPr>
          <a:xfrm>
            <a:off x="8321040" y="1920240"/>
            <a:ext cx="2926080" cy="1371600"/>
          </a:xfrm>
          <a:prstGeom prst="rect">
            <a:avLst/>
          </a:prstGeom>
          <a:noFill/>
          <a:ln/>
        </p:spPr>
        <p:txBody>
          <a:bodyPr wrap="square" lIns="0" tIns="0" rIns="0" bIns="0" rtlCol="0" anchor="ctr"/>
          <a:lstStyle/>
          <a:p>
            <a:pPr indent="0" marL="0">
              <a:lnSpc>
                <a:spcPts val="2800"/>
              </a:lnSpc>
              <a:buNone/>
            </a:pPr>
            <a:r>
              <a:rPr lang="en-US" sz="2200" b="1" dirty="0">
                <a:solidFill>
                  <a:srgbClr val="FFFFFF"/>
                </a:solidFill>
                <a:latin typeface="Cambria" pitchFamily="34" charset="0"/>
                <a:ea typeface="Cambria" pitchFamily="34" charset="-122"/>
                <a:cs typeface="Cambria" pitchFamily="34" charset="-120"/>
              </a:rPr>
              <a:t>¿Cómo se reparte el trabajo entre hilos sin que se estorben entre ellos?</a:t>
            </a:r>
            <a:endParaRPr lang="en-US" sz="2200" dirty="0"/>
          </a:p>
        </p:txBody>
      </p:sp>
      <p:sp>
        <p:nvSpPr>
          <p:cNvPr id="23" name="Text 21"/>
          <p:cNvSpPr/>
          <p:nvPr/>
        </p:nvSpPr>
        <p:spPr>
          <a:xfrm>
            <a:off x="8321040" y="3429000"/>
            <a:ext cx="2926080" cy="914400"/>
          </a:xfrm>
          <a:prstGeom prst="rect">
            <a:avLst/>
          </a:prstGeom>
          <a:noFill/>
          <a:ln/>
        </p:spPr>
        <p:txBody>
          <a:bodyPr wrap="square" lIns="0" tIns="0" rIns="0" bIns="0" rtlCol="0" anchor="ctr"/>
          <a:lstStyle/>
          <a:p>
            <a:pPr indent="0" marL="0">
              <a:lnSpc>
                <a:spcPts val="1900"/>
              </a:lnSpc>
              <a:buNone/>
            </a:pPr>
            <a:r>
              <a:rPr lang="en-US" sz="1300" dirty="0">
                <a:solidFill>
                  <a:srgbClr val="9BB0C4"/>
                </a:solidFill>
                <a:latin typeface="Calibri" pitchFamily="34" charset="0"/>
                <a:ea typeface="Calibri" pitchFamily="34" charset="-122"/>
                <a:cs typeface="Calibri" pitchFamily="34" charset="-120"/>
              </a:rPr>
              <a:t>Y sobre todo: ¿cómo se demuestra con números, en vez de suponerlo?</a:t>
            </a:r>
            <a:endParaRPr lang="en-US" sz="1300" dirty="0"/>
          </a:p>
        </p:txBody>
      </p:sp>
      <p:sp>
        <p:nvSpPr>
          <p:cNvPr id="24" name="Text 22"/>
          <p:cNvSpPr/>
          <p:nvPr/>
        </p:nvSpPr>
        <p:spPr>
          <a:xfrm>
            <a:off x="8321040" y="5074920"/>
            <a:ext cx="2926080" cy="32004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9 estrategias medidas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58368" y="182880"/>
            <a:ext cx="1088136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OBJETIVO Y MÉTODO</a:t>
            </a:r>
            <a:endParaRPr lang="en-US" sz="1200" dirty="0"/>
          </a:p>
        </p:txBody>
      </p:sp>
      <p:sp>
        <p:nvSpPr>
          <p:cNvPr id="3" name="Text 1"/>
          <p:cNvSpPr/>
          <p:nvPr/>
        </p:nvSpPr>
        <p:spPr>
          <a:xfrm>
            <a:off x="640080" y="411480"/>
            <a:ext cx="10972800" cy="685800"/>
          </a:xfrm>
          <a:prstGeom prst="rect">
            <a:avLst/>
          </a:prstGeom>
          <a:noFill/>
          <a:ln/>
        </p:spPr>
        <p:txBody>
          <a:bodyPr wrap="square" lIns="0" tIns="0" rIns="0" bIns="0" rtlCol="0" anchor="ctr"/>
          <a:lstStyle/>
          <a:p>
            <a:pPr algn="l" indent="0" marL="0">
              <a:buNone/>
            </a:pPr>
            <a:r>
              <a:rPr lang="en-US" sz="3800" b="1" dirty="0">
                <a:solidFill>
                  <a:srgbClr val="14202E"/>
                </a:solidFill>
                <a:latin typeface="Cambria" pitchFamily="34" charset="0"/>
                <a:ea typeface="Cambria" pitchFamily="34" charset="-122"/>
                <a:cs typeface="Cambria" pitchFamily="34" charset="-120"/>
              </a:rPr>
              <a:t>Comparar con números, no con intuición</a:t>
            </a:r>
            <a:endParaRPr lang="en-US" sz="3800" dirty="0"/>
          </a:p>
        </p:txBody>
      </p:sp>
      <p:sp>
        <p:nvSpPr>
          <p:cNvPr id="4" name="Shape 2"/>
          <p:cNvSpPr/>
          <p:nvPr/>
        </p:nvSpPr>
        <p:spPr>
          <a:xfrm>
            <a:off x="640080" y="1371600"/>
            <a:ext cx="5257800" cy="1993392"/>
          </a:xfrm>
          <a:prstGeom prst="roundRect">
            <a:avLst>
              <a:gd name="adj" fmla="val 3670"/>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5" name="Shape 3"/>
          <p:cNvSpPr/>
          <p:nvPr/>
        </p:nvSpPr>
        <p:spPr>
          <a:xfrm>
            <a:off x="932688" y="1664208"/>
            <a:ext cx="475488" cy="475488"/>
          </a:xfrm>
          <a:prstGeom prst="ellipse">
            <a:avLst/>
          </a:prstGeom>
          <a:solidFill>
            <a:srgbClr val="00A896"/>
          </a:solidFill>
          <a:ln w="12700">
            <a:solidFill>
              <a:srgbClr val="00A896"/>
            </a:solidFill>
            <a:prstDash val="solid"/>
          </a:ln>
        </p:spPr>
      </p:sp>
      <p:sp>
        <p:nvSpPr>
          <p:cNvPr id="6" name="Text 4"/>
          <p:cNvSpPr/>
          <p:nvPr/>
        </p:nvSpPr>
        <p:spPr>
          <a:xfrm>
            <a:off x="932688" y="16642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72768" y="1700784"/>
            <a:ext cx="4114800" cy="365760"/>
          </a:xfrm>
          <a:prstGeom prst="rect">
            <a:avLst/>
          </a:prstGeom>
          <a:noFill/>
          <a:ln/>
        </p:spPr>
        <p:txBody>
          <a:bodyPr wrap="square" lIns="0" tIns="0" rIns="0" bIns="0" rtlCol="0" anchor="ctr"/>
          <a:lstStyle/>
          <a:p>
            <a:pPr indent="0" marL="0">
              <a:buNone/>
            </a:pPr>
            <a:r>
              <a:rPr lang="en-US" sz="1600" b="1" dirty="0">
                <a:solidFill>
                  <a:srgbClr val="14202E"/>
                </a:solidFill>
                <a:latin typeface="Calibri" pitchFamily="34" charset="0"/>
                <a:ea typeface="Calibri" pitchFamily="34" charset="-122"/>
                <a:cs typeface="Calibri" pitchFamily="34" charset="-120"/>
              </a:rPr>
              <a:t>Mismo problema, 9 soluciones</a:t>
            </a:r>
            <a:endParaRPr lang="en-US" sz="1600" dirty="0"/>
          </a:p>
        </p:txBody>
      </p:sp>
      <p:sp>
        <p:nvSpPr>
          <p:cNvPr id="8" name="Text 6"/>
          <p:cNvSpPr/>
          <p:nvPr/>
        </p:nvSpPr>
        <p:spPr>
          <a:xfrm>
            <a:off x="950976" y="2176272"/>
            <a:ext cx="4663440" cy="914400"/>
          </a:xfrm>
          <a:prstGeom prst="rect">
            <a:avLst/>
          </a:prstGeom>
          <a:noFill/>
          <a:ln/>
        </p:spPr>
        <p:txBody>
          <a:bodyPr wrap="square" lIns="0" tIns="0" rIns="0" bIns="0" rtlCol="0" anchor="ctr"/>
          <a:lstStyle/>
          <a:p>
            <a:pPr indent="0" marL="0">
              <a:lnSpc>
                <a:spcPts val="1800"/>
              </a:lnSpc>
              <a:buNone/>
            </a:pPr>
            <a:r>
              <a:rPr lang="en-US" sz="1300" dirty="0">
                <a:solidFill>
                  <a:srgbClr val="5A6B7D"/>
                </a:solidFill>
                <a:latin typeface="Calibri" pitchFamily="34" charset="0"/>
                <a:ea typeface="Calibri" pitchFamily="34" charset="-122"/>
                <a:cs typeface="Calibri" pitchFamily="34" charset="-120"/>
              </a:rPr>
              <a:t>Un baseline secuencial y 8 estrategias paralelas resolviendo exactamente la misma agregación: monto por sucursal y unidades por producto.</a:t>
            </a:r>
            <a:endParaRPr lang="en-US" sz="1300" dirty="0"/>
          </a:p>
        </p:txBody>
      </p:sp>
      <p:sp>
        <p:nvSpPr>
          <p:cNvPr id="9" name="Shape 7"/>
          <p:cNvSpPr/>
          <p:nvPr/>
        </p:nvSpPr>
        <p:spPr>
          <a:xfrm>
            <a:off x="6263640" y="1371600"/>
            <a:ext cx="5257800" cy="1993392"/>
          </a:xfrm>
          <a:prstGeom prst="roundRect">
            <a:avLst>
              <a:gd name="adj" fmla="val 3670"/>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10" name="Shape 8"/>
          <p:cNvSpPr/>
          <p:nvPr/>
        </p:nvSpPr>
        <p:spPr>
          <a:xfrm>
            <a:off x="6556248" y="1664208"/>
            <a:ext cx="475488" cy="475488"/>
          </a:xfrm>
          <a:prstGeom prst="ellipse">
            <a:avLst/>
          </a:prstGeom>
          <a:solidFill>
            <a:srgbClr val="00A896"/>
          </a:solidFill>
          <a:ln w="12700">
            <a:solidFill>
              <a:srgbClr val="00A896"/>
            </a:solidFill>
            <a:prstDash val="solid"/>
          </a:ln>
        </p:spPr>
      </p:sp>
      <p:sp>
        <p:nvSpPr>
          <p:cNvPr id="11" name="Text 9"/>
          <p:cNvSpPr/>
          <p:nvPr/>
        </p:nvSpPr>
        <p:spPr>
          <a:xfrm>
            <a:off x="6556248" y="16642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196328" y="1700784"/>
            <a:ext cx="4114800" cy="365760"/>
          </a:xfrm>
          <a:prstGeom prst="rect">
            <a:avLst/>
          </a:prstGeom>
          <a:noFill/>
          <a:ln/>
        </p:spPr>
        <p:txBody>
          <a:bodyPr wrap="square" lIns="0" tIns="0" rIns="0" bIns="0" rtlCol="0" anchor="ctr"/>
          <a:lstStyle/>
          <a:p>
            <a:pPr indent="0" marL="0">
              <a:buNone/>
            </a:pPr>
            <a:r>
              <a:rPr lang="en-US" sz="1600" b="1" dirty="0">
                <a:solidFill>
                  <a:srgbClr val="14202E"/>
                </a:solidFill>
                <a:latin typeface="Calibri" pitchFamily="34" charset="0"/>
                <a:ea typeface="Calibri" pitchFamily="34" charset="-122"/>
                <a:cs typeface="Calibri" pitchFamily="34" charset="-120"/>
              </a:rPr>
              <a:t>Métricas comparables</a:t>
            </a:r>
            <a:endParaRPr lang="en-US" sz="1600" dirty="0"/>
          </a:p>
        </p:txBody>
      </p:sp>
      <p:sp>
        <p:nvSpPr>
          <p:cNvPr id="13" name="Text 11"/>
          <p:cNvSpPr/>
          <p:nvPr/>
        </p:nvSpPr>
        <p:spPr>
          <a:xfrm>
            <a:off x="6574536" y="2176272"/>
            <a:ext cx="4663440" cy="914400"/>
          </a:xfrm>
          <a:prstGeom prst="rect">
            <a:avLst/>
          </a:prstGeom>
          <a:noFill/>
          <a:ln/>
        </p:spPr>
        <p:txBody>
          <a:bodyPr wrap="square" lIns="0" tIns="0" rIns="0" bIns="0" rtlCol="0" anchor="ctr"/>
          <a:lstStyle/>
          <a:p>
            <a:pPr indent="0" marL="0">
              <a:lnSpc>
                <a:spcPts val="1800"/>
              </a:lnSpc>
              <a:buNone/>
            </a:pPr>
            <a:r>
              <a:rPr lang="en-US" sz="1300" dirty="0">
                <a:solidFill>
                  <a:srgbClr val="5A6B7D"/>
                </a:solidFill>
                <a:latin typeface="Calibri" pitchFamily="34" charset="0"/>
                <a:ea typeface="Calibri" pitchFamily="34" charset="-122"/>
                <a:cs typeface="Calibri" pitchFamily="34" charset="-120"/>
              </a:rPr>
              <a:t>Tiempo, filas/segundo, speedup y eficiencia. Además, desglose interno de tiempo de mapeo, de reducción y de contención por locks.</a:t>
            </a:r>
            <a:endParaRPr lang="en-US" sz="1300" dirty="0"/>
          </a:p>
        </p:txBody>
      </p:sp>
      <p:sp>
        <p:nvSpPr>
          <p:cNvPr id="14" name="Shape 12"/>
          <p:cNvSpPr/>
          <p:nvPr/>
        </p:nvSpPr>
        <p:spPr>
          <a:xfrm>
            <a:off x="640080" y="3584448"/>
            <a:ext cx="5257800" cy="1993392"/>
          </a:xfrm>
          <a:prstGeom prst="roundRect">
            <a:avLst>
              <a:gd name="adj" fmla="val 3670"/>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15" name="Shape 13"/>
          <p:cNvSpPr/>
          <p:nvPr/>
        </p:nvSpPr>
        <p:spPr>
          <a:xfrm>
            <a:off x="932688" y="3877056"/>
            <a:ext cx="475488" cy="475488"/>
          </a:xfrm>
          <a:prstGeom prst="ellipse">
            <a:avLst/>
          </a:prstGeom>
          <a:solidFill>
            <a:srgbClr val="00A896"/>
          </a:solidFill>
          <a:ln w="12700">
            <a:solidFill>
              <a:srgbClr val="00A896"/>
            </a:solidFill>
            <a:prstDash val="solid"/>
          </a:ln>
        </p:spPr>
      </p:sp>
      <p:sp>
        <p:nvSpPr>
          <p:cNvPr id="16" name="Text 14"/>
          <p:cNvSpPr/>
          <p:nvPr/>
        </p:nvSpPr>
        <p:spPr>
          <a:xfrm>
            <a:off x="932688" y="38770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72768" y="3913632"/>
            <a:ext cx="4114800" cy="365760"/>
          </a:xfrm>
          <a:prstGeom prst="rect">
            <a:avLst/>
          </a:prstGeom>
          <a:noFill/>
          <a:ln/>
        </p:spPr>
        <p:txBody>
          <a:bodyPr wrap="square" lIns="0" tIns="0" rIns="0" bIns="0" rtlCol="0" anchor="ctr"/>
          <a:lstStyle/>
          <a:p>
            <a:pPr indent="0" marL="0">
              <a:buNone/>
            </a:pPr>
            <a:r>
              <a:rPr lang="en-US" sz="1600" b="1" dirty="0">
                <a:solidFill>
                  <a:srgbClr val="14202E"/>
                </a:solidFill>
                <a:latin typeface="Calibri" pitchFamily="34" charset="0"/>
                <a:ea typeface="Calibri" pitchFamily="34" charset="-122"/>
                <a:cs typeface="Calibri" pitchFamily="34" charset="-120"/>
              </a:rPr>
              <a:t>Correctitud verificada</a:t>
            </a:r>
            <a:endParaRPr lang="en-US" sz="1600" dirty="0"/>
          </a:p>
        </p:txBody>
      </p:sp>
      <p:sp>
        <p:nvSpPr>
          <p:cNvPr id="18" name="Text 16"/>
          <p:cNvSpPr/>
          <p:nvPr/>
        </p:nvSpPr>
        <p:spPr>
          <a:xfrm>
            <a:off x="950976" y="4389120"/>
            <a:ext cx="4663440" cy="914400"/>
          </a:xfrm>
          <a:prstGeom prst="rect">
            <a:avLst/>
          </a:prstGeom>
          <a:noFill/>
          <a:ln/>
        </p:spPr>
        <p:txBody>
          <a:bodyPr wrap="square" lIns="0" tIns="0" rIns="0" bIns="0" rtlCol="0" anchor="ctr"/>
          <a:lstStyle/>
          <a:p>
            <a:pPr indent="0" marL="0">
              <a:lnSpc>
                <a:spcPts val="1800"/>
              </a:lnSpc>
              <a:buNone/>
            </a:pPr>
            <a:r>
              <a:rPr lang="en-US" sz="1300" dirty="0">
                <a:solidFill>
                  <a:srgbClr val="5A6B7D"/>
                </a:solidFill>
                <a:latin typeface="Calibri" pitchFamily="34" charset="0"/>
                <a:ea typeface="Calibri" pitchFamily="34" charset="-122"/>
                <a:cs typeface="Calibri" pitchFamily="34" charset="-120"/>
              </a:rPr>
              <a:t>61 pruebas unitarias comprueban que toda estrategia paralela produce exactamente los mismos totales que el baseline secuencial.</a:t>
            </a:r>
            <a:endParaRPr lang="en-US" sz="1300" dirty="0"/>
          </a:p>
        </p:txBody>
      </p:sp>
      <p:sp>
        <p:nvSpPr>
          <p:cNvPr id="19" name="Shape 17"/>
          <p:cNvSpPr/>
          <p:nvPr/>
        </p:nvSpPr>
        <p:spPr>
          <a:xfrm>
            <a:off x="6263640" y="3584448"/>
            <a:ext cx="5257800" cy="1993392"/>
          </a:xfrm>
          <a:prstGeom prst="roundRect">
            <a:avLst>
              <a:gd name="adj" fmla="val 3670"/>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20" name="Shape 18"/>
          <p:cNvSpPr/>
          <p:nvPr/>
        </p:nvSpPr>
        <p:spPr>
          <a:xfrm>
            <a:off x="6556248" y="3877056"/>
            <a:ext cx="475488" cy="475488"/>
          </a:xfrm>
          <a:prstGeom prst="ellipse">
            <a:avLst/>
          </a:prstGeom>
          <a:solidFill>
            <a:srgbClr val="00A896"/>
          </a:solidFill>
          <a:ln w="12700">
            <a:solidFill>
              <a:srgbClr val="00A896"/>
            </a:solidFill>
            <a:prstDash val="solid"/>
          </a:ln>
        </p:spPr>
      </p:sp>
      <p:sp>
        <p:nvSpPr>
          <p:cNvPr id="21" name="Text 19"/>
          <p:cNvSpPr/>
          <p:nvPr/>
        </p:nvSpPr>
        <p:spPr>
          <a:xfrm>
            <a:off x="6556248" y="38770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196328" y="3913632"/>
            <a:ext cx="4114800" cy="365760"/>
          </a:xfrm>
          <a:prstGeom prst="rect">
            <a:avLst/>
          </a:prstGeom>
          <a:noFill/>
          <a:ln/>
        </p:spPr>
        <p:txBody>
          <a:bodyPr wrap="square" lIns="0" tIns="0" rIns="0" bIns="0" rtlCol="0" anchor="ctr"/>
          <a:lstStyle/>
          <a:p>
            <a:pPr indent="0" marL="0">
              <a:buNone/>
            </a:pPr>
            <a:r>
              <a:rPr lang="en-US" sz="1600" b="1" dirty="0">
                <a:solidFill>
                  <a:srgbClr val="14202E"/>
                </a:solidFill>
                <a:latin typeface="Calibri" pitchFamily="34" charset="0"/>
                <a:ea typeface="Calibri" pitchFamily="34" charset="-122"/>
                <a:cs typeface="Calibri" pitchFamily="34" charset="-120"/>
              </a:rPr>
              <a:t>Condiciones controladas</a:t>
            </a:r>
            <a:endParaRPr lang="en-US" sz="1600" dirty="0"/>
          </a:p>
        </p:txBody>
      </p:sp>
      <p:sp>
        <p:nvSpPr>
          <p:cNvPr id="23" name="Text 21"/>
          <p:cNvSpPr/>
          <p:nvPr/>
        </p:nvSpPr>
        <p:spPr>
          <a:xfrm>
            <a:off x="6574536" y="4389120"/>
            <a:ext cx="4663440" cy="914400"/>
          </a:xfrm>
          <a:prstGeom prst="rect">
            <a:avLst/>
          </a:prstGeom>
          <a:noFill/>
          <a:ln/>
        </p:spPr>
        <p:txBody>
          <a:bodyPr wrap="square" lIns="0" tIns="0" rIns="0" bIns="0" rtlCol="0" anchor="ctr"/>
          <a:lstStyle/>
          <a:p>
            <a:pPr indent="0" marL="0">
              <a:lnSpc>
                <a:spcPts val="1800"/>
              </a:lnSpc>
              <a:buNone/>
            </a:pPr>
            <a:r>
              <a:rPr lang="en-US" sz="1300" dirty="0">
                <a:solidFill>
                  <a:srgbClr val="5A6B7D"/>
                </a:solidFill>
                <a:latin typeface="Calibri" pitchFamily="34" charset="0"/>
                <a:ea typeface="Calibri" pitchFamily="34" charset="-122"/>
                <a:cs typeface="Calibri" pitchFamily="34" charset="-120"/>
              </a:rPr>
              <a:t>Dataset sintético con semilla fija (reproducible), compilado en Release, y escalabilidad medida en volumen (1M–20M) y en hilos (1–8).</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58368" y="182880"/>
            <a:ext cx="1088136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LO QUE SE IMPLEMENTÓ</a:t>
            </a:r>
            <a:endParaRPr lang="en-US" sz="1200" dirty="0"/>
          </a:p>
        </p:txBody>
      </p:sp>
      <p:sp>
        <p:nvSpPr>
          <p:cNvPr id="3" name="Text 1"/>
          <p:cNvSpPr/>
          <p:nvPr/>
        </p:nvSpPr>
        <p:spPr>
          <a:xfrm>
            <a:off x="640080" y="411480"/>
            <a:ext cx="10972800" cy="685800"/>
          </a:xfrm>
          <a:prstGeom prst="rect">
            <a:avLst/>
          </a:prstGeom>
          <a:noFill/>
          <a:ln/>
        </p:spPr>
        <p:txBody>
          <a:bodyPr wrap="square" lIns="0" tIns="0" rIns="0" bIns="0" rtlCol="0" anchor="ctr"/>
          <a:lstStyle/>
          <a:p>
            <a:pPr algn="l" indent="0" marL="0">
              <a:buNone/>
            </a:pPr>
            <a:r>
              <a:rPr lang="en-US" sz="3800" b="1" dirty="0">
                <a:solidFill>
                  <a:srgbClr val="14202E"/>
                </a:solidFill>
                <a:latin typeface="Cambria" pitchFamily="34" charset="0"/>
                <a:ea typeface="Cambria" pitchFamily="34" charset="-122"/>
                <a:cs typeface="Cambria" pitchFamily="34" charset="-120"/>
              </a:rPr>
              <a:t>Dos familias de estrategias</a:t>
            </a:r>
            <a:endParaRPr lang="en-US" sz="3800" dirty="0"/>
          </a:p>
        </p:txBody>
      </p:sp>
      <p:sp>
        <p:nvSpPr>
          <p:cNvPr id="4" name="Text 2"/>
          <p:cNvSpPr/>
          <p:nvPr/>
        </p:nvSpPr>
        <p:spPr>
          <a:xfrm>
            <a:off x="658368" y="1188720"/>
            <a:ext cx="10881360" cy="365760"/>
          </a:xfrm>
          <a:prstGeom prst="rect">
            <a:avLst/>
          </a:prstGeom>
          <a:noFill/>
          <a:ln/>
        </p:spPr>
        <p:txBody>
          <a:bodyPr wrap="square" lIns="0" tIns="0" rIns="0" bIns="0" rtlCol="0" anchor="ctr"/>
          <a:lstStyle/>
          <a:p>
            <a:pPr indent="0" marL="0">
              <a:buNone/>
            </a:pPr>
            <a:r>
              <a:rPr lang="en-US" sz="1500" dirty="0">
                <a:solidFill>
                  <a:srgbClr val="5A6B7D"/>
                </a:solidFill>
                <a:latin typeface="Calibri" pitchFamily="34" charset="0"/>
                <a:ea typeface="Calibri" pitchFamily="34" charset="-122"/>
                <a:cs typeface="Calibri" pitchFamily="34" charset="-120"/>
              </a:rPr>
              <a:t>La diferencia clave no es cómo se reparte el trabajo, sino cada cuánto los hilos tienen que sincronizarse entre sí.</a:t>
            </a:r>
            <a:endParaRPr lang="en-US" sz="1500" dirty="0"/>
          </a:p>
        </p:txBody>
      </p:sp>
      <p:sp>
        <p:nvSpPr>
          <p:cNvPr id="5" name="Shape 3"/>
          <p:cNvSpPr/>
          <p:nvPr/>
        </p:nvSpPr>
        <p:spPr>
          <a:xfrm>
            <a:off x="640080" y="1755648"/>
            <a:ext cx="5257800" cy="3977640"/>
          </a:xfrm>
          <a:prstGeom prst="roundRect">
            <a:avLst>
              <a:gd name="adj" fmla="val 1839"/>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6" name="Shape 4"/>
          <p:cNvSpPr/>
          <p:nvPr/>
        </p:nvSpPr>
        <p:spPr>
          <a:xfrm>
            <a:off x="932688" y="2048256"/>
            <a:ext cx="2331720" cy="347472"/>
          </a:xfrm>
          <a:prstGeom prst="roundRect">
            <a:avLst>
              <a:gd name="adj" fmla="val 131579"/>
            </a:avLst>
          </a:prstGeom>
          <a:solidFill>
            <a:srgbClr val="E94F4F"/>
          </a:solidFill>
          <a:ln w="12700">
            <a:solidFill>
              <a:srgbClr val="E94F4F"/>
            </a:solidFill>
            <a:prstDash val="solid"/>
          </a:ln>
        </p:spPr>
      </p:sp>
      <p:sp>
        <p:nvSpPr>
          <p:cNvPr id="7" name="Text 5"/>
          <p:cNvSpPr/>
          <p:nvPr/>
        </p:nvSpPr>
        <p:spPr>
          <a:xfrm>
            <a:off x="932688" y="2048256"/>
            <a:ext cx="2331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SINCRONIZAN POR FILA</a:t>
            </a:r>
            <a:endParaRPr lang="en-US" sz="1000" dirty="0"/>
          </a:p>
        </p:txBody>
      </p:sp>
      <p:sp>
        <p:nvSpPr>
          <p:cNvPr id="8" name="Text 6"/>
          <p:cNvSpPr/>
          <p:nvPr/>
        </p:nvSpPr>
        <p:spPr>
          <a:xfrm>
            <a:off x="932688" y="2542032"/>
            <a:ext cx="4663440" cy="566928"/>
          </a:xfrm>
          <a:prstGeom prst="rect">
            <a:avLst/>
          </a:prstGeom>
          <a:noFill/>
          <a:ln/>
        </p:spPr>
        <p:txBody>
          <a:bodyPr wrap="square" lIns="0" tIns="0" rIns="0" bIns="0" rtlCol="0" anchor="ctr"/>
          <a:lstStyle/>
          <a:p>
            <a:pPr indent="0" marL="0">
              <a:lnSpc>
                <a:spcPts val="1600"/>
              </a:lnSpc>
              <a:buNone/>
            </a:pPr>
            <a:r>
              <a:rPr lang="en-US" sz="1200" dirty="0">
                <a:solidFill>
                  <a:srgbClr val="5A6B7D"/>
                </a:solidFill>
                <a:latin typeface="Calibri" pitchFamily="34" charset="0"/>
                <a:ea typeface="Calibri" pitchFamily="34" charset="-122"/>
                <a:cs typeface="Calibri" pitchFamily="34" charset="-120"/>
              </a:rPr>
              <a:t>Cada fila procesada toca estado compartido. Con más hilos, más competencia por el mismo recurso.</a:t>
            </a:r>
            <a:endParaRPr lang="en-US" sz="1200" dirty="0"/>
          </a:p>
        </p:txBody>
      </p:sp>
      <p:sp>
        <p:nvSpPr>
          <p:cNvPr id="9" name="Text 7"/>
          <p:cNvSpPr/>
          <p:nvPr/>
        </p:nvSpPr>
        <p:spPr>
          <a:xfrm>
            <a:off x="932688" y="3246120"/>
            <a:ext cx="4663440" cy="274320"/>
          </a:xfrm>
          <a:prstGeom prst="rect">
            <a:avLst/>
          </a:prstGeom>
          <a:noFill/>
          <a:ln/>
        </p:spPr>
        <p:txBody>
          <a:bodyPr wrap="square" lIns="0" tIns="0" rIns="0" bIns="0" rtlCol="0" anchor="ctr"/>
          <a:lstStyle/>
          <a:p>
            <a:pPr indent="0" marL="0">
              <a:buNone/>
            </a:pPr>
            <a:r>
              <a:rPr lang="en-US" sz="1400" b="1" dirty="0">
                <a:solidFill>
                  <a:srgbClr val="14202E"/>
                </a:solidFill>
                <a:latin typeface="Calibri" pitchFamily="34" charset="0"/>
                <a:ea typeface="Calibri" pitchFamily="34" charset="-122"/>
                <a:cs typeface="Calibri" pitchFamily="34" charset="-120"/>
              </a:rPr>
              <a:t>lock sobre Dictionary</a:t>
            </a:r>
            <a:endParaRPr lang="en-US" sz="1400" dirty="0"/>
          </a:p>
        </p:txBody>
      </p:sp>
      <p:sp>
        <p:nvSpPr>
          <p:cNvPr id="10" name="Text 8"/>
          <p:cNvSpPr/>
          <p:nvPr/>
        </p:nvSpPr>
        <p:spPr>
          <a:xfrm>
            <a:off x="932688" y="3529584"/>
            <a:ext cx="4663440" cy="292608"/>
          </a:xfrm>
          <a:prstGeom prst="rect">
            <a:avLst/>
          </a:prstGeom>
          <a:noFill/>
          <a:ln/>
        </p:spPr>
        <p:txBody>
          <a:bodyPr wrap="square" lIns="0" tIns="0" rIns="0" bIns="0" rtlCol="0" anchor="ctr"/>
          <a:lstStyle/>
          <a:p>
            <a:pPr indent="0" marL="0">
              <a:buNone/>
            </a:pPr>
            <a:r>
              <a:rPr lang="en-US" sz="1150" dirty="0">
                <a:solidFill>
                  <a:srgbClr val="5A6B7D"/>
                </a:solidFill>
                <a:latin typeface="Calibri" pitchFamily="34" charset="0"/>
                <a:ea typeface="Calibri" pitchFamily="34" charset="-122"/>
                <a:cs typeface="Calibri" pitchFamily="34" charset="-120"/>
              </a:rPr>
              <a:t>Un candado global; cada fila espera su turno.</a:t>
            </a:r>
            <a:endParaRPr lang="en-US" sz="1150" dirty="0"/>
          </a:p>
        </p:txBody>
      </p:sp>
      <p:sp>
        <p:nvSpPr>
          <p:cNvPr id="11" name="Text 9"/>
          <p:cNvSpPr/>
          <p:nvPr/>
        </p:nvSpPr>
        <p:spPr>
          <a:xfrm>
            <a:off x="932688" y="4023360"/>
            <a:ext cx="4663440" cy="274320"/>
          </a:xfrm>
          <a:prstGeom prst="rect">
            <a:avLst/>
          </a:prstGeom>
          <a:noFill/>
          <a:ln/>
        </p:spPr>
        <p:txBody>
          <a:bodyPr wrap="square" lIns="0" tIns="0" rIns="0" bIns="0" rtlCol="0" anchor="ctr"/>
          <a:lstStyle/>
          <a:p>
            <a:pPr indent="0" marL="0">
              <a:buNone/>
            </a:pPr>
            <a:r>
              <a:rPr lang="en-US" sz="1400" b="1" dirty="0">
                <a:solidFill>
                  <a:srgbClr val="14202E"/>
                </a:solidFill>
                <a:latin typeface="Calibri" pitchFamily="34" charset="0"/>
                <a:ea typeface="Calibri" pitchFamily="34" charset="-122"/>
                <a:cs typeface="Calibri" pitchFamily="34" charset="-120"/>
              </a:rPr>
              <a:t>ConcurrentDictionary</a:t>
            </a:r>
            <a:endParaRPr lang="en-US" sz="1400" dirty="0"/>
          </a:p>
        </p:txBody>
      </p:sp>
      <p:sp>
        <p:nvSpPr>
          <p:cNvPr id="12" name="Text 10"/>
          <p:cNvSpPr/>
          <p:nvPr/>
        </p:nvSpPr>
        <p:spPr>
          <a:xfrm>
            <a:off x="932688" y="4306824"/>
            <a:ext cx="4663440" cy="292608"/>
          </a:xfrm>
          <a:prstGeom prst="rect">
            <a:avLst/>
          </a:prstGeom>
          <a:noFill/>
          <a:ln/>
        </p:spPr>
        <p:txBody>
          <a:bodyPr wrap="square" lIns="0" tIns="0" rIns="0" bIns="0" rtlCol="0" anchor="ctr"/>
          <a:lstStyle/>
          <a:p>
            <a:pPr indent="0" marL="0">
              <a:buNone/>
            </a:pPr>
            <a:r>
              <a:rPr lang="en-US" sz="1150" dirty="0">
                <a:solidFill>
                  <a:srgbClr val="5A6B7D"/>
                </a:solidFill>
                <a:latin typeface="Calibri" pitchFamily="34" charset="0"/>
                <a:ea typeface="Calibri" pitchFamily="34" charset="-122"/>
                <a:cs typeface="Calibri" pitchFamily="34" charset="-120"/>
              </a:rPr>
              <a:t>Candados internos por bucket, más finos.</a:t>
            </a:r>
            <a:endParaRPr lang="en-US" sz="1150" dirty="0"/>
          </a:p>
        </p:txBody>
      </p:sp>
      <p:sp>
        <p:nvSpPr>
          <p:cNvPr id="13" name="Text 11"/>
          <p:cNvSpPr/>
          <p:nvPr/>
        </p:nvSpPr>
        <p:spPr>
          <a:xfrm>
            <a:off x="932688" y="4800600"/>
            <a:ext cx="4663440" cy="274320"/>
          </a:xfrm>
          <a:prstGeom prst="rect">
            <a:avLst/>
          </a:prstGeom>
          <a:noFill/>
          <a:ln/>
        </p:spPr>
        <p:txBody>
          <a:bodyPr wrap="square" lIns="0" tIns="0" rIns="0" bIns="0" rtlCol="0" anchor="ctr"/>
          <a:lstStyle/>
          <a:p>
            <a:pPr indent="0" marL="0">
              <a:buNone/>
            </a:pPr>
            <a:r>
              <a:rPr lang="en-US" sz="1400" b="1" dirty="0">
                <a:solidFill>
                  <a:srgbClr val="14202E"/>
                </a:solidFill>
                <a:latin typeface="Calibri" pitchFamily="34" charset="0"/>
                <a:ea typeface="Calibri" pitchFamily="34" charset="-122"/>
                <a:cs typeface="Calibri" pitchFamily="34" charset="-120"/>
              </a:rPr>
              <a:t>PLINQ GroupBy</a:t>
            </a:r>
            <a:endParaRPr lang="en-US" sz="1400" dirty="0"/>
          </a:p>
        </p:txBody>
      </p:sp>
      <p:sp>
        <p:nvSpPr>
          <p:cNvPr id="14" name="Text 12"/>
          <p:cNvSpPr/>
          <p:nvPr/>
        </p:nvSpPr>
        <p:spPr>
          <a:xfrm>
            <a:off x="932688" y="5084064"/>
            <a:ext cx="4663440" cy="292608"/>
          </a:xfrm>
          <a:prstGeom prst="rect">
            <a:avLst/>
          </a:prstGeom>
          <a:noFill/>
          <a:ln/>
        </p:spPr>
        <p:txBody>
          <a:bodyPr wrap="square" lIns="0" tIns="0" rIns="0" bIns="0" rtlCol="0" anchor="ctr"/>
          <a:lstStyle/>
          <a:p>
            <a:pPr indent="0" marL="0">
              <a:buNone/>
            </a:pPr>
            <a:r>
              <a:rPr lang="en-US" sz="1150" dirty="0">
                <a:solidFill>
                  <a:srgbClr val="5A6B7D"/>
                </a:solidFill>
                <a:latin typeface="Calibri" pitchFamily="34" charset="0"/>
                <a:ea typeface="Calibri" pitchFamily="34" charset="-122"/>
                <a:cs typeface="Calibri" pitchFamily="34" charset="-120"/>
              </a:rPr>
              <a:t>Declarativo; el runtime decide y no se puede medir.</a:t>
            </a:r>
            <a:endParaRPr lang="en-US" sz="1150" dirty="0"/>
          </a:p>
        </p:txBody>
      </p:sp>
      <p:sp>
        <p:nvSpPr>
          <p:cNvPr id="15" name="Shape 13"/>
          <p:cNvSpPr/>
          <p:nvPr/>
        </p:nvSpPr>
        <p:spPr>
          <a:xfrm>
            <a:off x="6263640" y="1755648"/>
            <a:ext cx="5285232" cy="3977640"/>
          </a:xfrm>
          <a:prstGeom prst="roundRect">
            <a:avLst>
              <a:gd name="adj" fmla="val 1839"/>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16" name="Shape 14"/>
          <p:cNvSpPr/>
          <p:nvPr/>
        </p:nvSpPr>
        <p:spPr>
          <a:xfrm>
            <a:off x="6556248" y="2048256"/>
            <a:ext cx="2743200" cy="347472"/>
          </a:xfrm>
          <a:prstGeom prst="roundRect">
            <a:avLst>
              <a:gd name="adj" fmla="val 131579"/>
            </a:avLst>
          </a:prstGeom>
          <a:solidFill>
            <a:srgbClr val="02C39A"/>
          </a:solidFill>
          <a:ln w="12700">
            <a:solidFill>
              <a:srgbClr val="02C39A"/>
            </a:solidFill>
            <a:prstDash val="solid"/>
          </a:ln>
        </p:spPr>
      </p:sp>
      <p:sp>
        <p:nvSpPr>
          <p:cNvPr id="17" name="Text 15"/>
          <p:cNvSpPr/>
          <p:nvPr/>
        </p:nvSpPr>
        <p:spPr>
          <a:xfrm>
            <a:off x="6556248" y="2048256"/>
            <a:ext cx="274320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SINCRONIZAN POR PARTICIÓN</a:t>
            </a:r>
            <a:endParaRPr lang="en-US" sz="1000" dirty="0"/>
          </a:p>
        </p:txBody>
      </p:sp>
      <p:sp>
        <p:nvSpPr>
          <p:cNvPr id="18" name="Text 16"/>
          <p:cNvSpPr/>
          <p:nvPr/>
        </p:nvSpPr>
        <p:spPr>
          <a:xfrm>
            <a:off x="6556248" y="2542032"/>
            <a:ext cx="4663440" cy="566928"/>
          </a:xfrm>
          <a:prstGeom prst="rect">
            <a:avLst/>
          </a:prstGeom>
          <a:noFill/>
          <a:ln/>
        </p:spPr>
        <p:txBody>
          <a:bodyPr wrap="square" lIns="0" tIns="0" rIns="0" bIns="0" rtlCol="0" anchor="ctr"/>
          <a:lstStyle/>
          <a:p>
            <a:pPr indent="0" marL="0">
              <a:lnSpc>
                <a:spcPts val="1600"/>
              </a:lnSpc>
              <a:buNone/>
            </a:pPr>
            <a:r>
              <a:rPr lang="en-US" sz="1200" dirty="0">
                <a:solidFill>
                  <a:srgbClr val="5A6B7D"/>
                </a:solidFill>
                <a:latin typeface="Calibri" pitchFamily="34" charset="0"/>
                <a:ea typeface="Calibri" pitchFamily="34" charset="-122"/>
                <a:cs typeface="Calibri" pitchFamily="34" charset="-120"/>
              </a:rPr>
              <a:t>Cada hilo acumula en su propia copia y solo se sincroniza una vez, al terminar su partición.</a:t>
            </a:r>
            <a:endParaRPr lang="en-US" sz="1200" dirty="0"/>
          </a:p>
        </p:txBody>
      </p:sp>
      <p:sp>
        <p:nvSpPr>
          <p:cNvPr id="19" name="Text 17"/>
          <p:cNvSpPr/>
          <p:nvPr/>
        </p:nvSpPr>
        <p:spPr>
          <a:xfrm>
            <a:off x="6556248" y="3200400"/>
            <a:ext cx="4663440" cy="237744"/>
          </a:xfrm>
          <a:prstGeom prst="rect">
            <a:avLst/>
          </a:prstGeom>
          <a:noFill/>
          <a:ln/>
        </p:spPr>
        <p:txBody>
          <a:bodyPr wrap="square" lIns="0" tIns="0" rIns="0" bIns="0" rtlCol="0" anchor="ctr"/>
          <a:lstStyle/>
          <a:p>
            <a:pPr indent="0" marL="0">
              <a:buNone/>
            </a:pPr>
            <a:r>
              <a:rPr lang="en-US" sz="1350" b="1" dirty="0">
                <a:solidFill>
                  <a:srgbClr val="14202E"/>
                </a:solidFill>
                <a:latin typeface="Calibri" pitchFamily="34" charset="0"/>
                <a:ea typeface="Calibri" pitchFamily="34" charset="-122"/>
                <a:cs typeface="Calibri" pitchFamily="34" charset="-120"/>
              </a:rPr>
              <a:t>Acumuladores locales</a:t>
            </a:r>
            <a:endParaRPr lang="en-US" sz="1350" dirty="0"/>
          </a:p>
        </p:txBody>
      </p:sp>
      <p:sp>
        <p:nvSpPr>
          <p:cNvPr id="20" name="Text 18"/>
          <p:cNvSpPr/>
          <p:nvPr/>
        </p:nvSpPr>
        <p:spPr>
          <a:xfrm>
            <a:off x="6556248" y="3429000"/>
            <a:ext cx="4663440" cy="256032"/>
          </a:xfrm>
          <a:prstGeom prst="rect">
            <a:avLst/>
          </a:prstGeom>
          <a:noFill/>
          <a:ln/>
        </p:spPr>
        <p:txBody>
          <a:bodyPr wrap="square" lIns="0" tIns="0" rIns="0" bIns="0" rtlCol="0" anchor="ctr"/>
          <a:lstStyle/>
          <a:p>
            <a:pPr indent="0" marL="0">
              <a:buNone/>
            </a:pPr>
            <a:r>
              <a:rPr lang="en-US" sz="1100" dirty="0">
                <a:solidFill>
                  <a:srgbClr val="5A6B7D"/>
                </a:solidFill>
                <a:latin typeface="Calibri" pitchFamily="34" charset="0"/>
                <a:ea typeface="Calibri" pitchFamily="34" charset="-122"/>
                <a:cs typeface="Calibri" pitchFamily="34" charset="-120"/>
              </a:rPr>
              <a:t>Rangos contiguos con localInit / localFinally.</a:t>
            </a:r>
            <a:endParaRPr lang="en-US" sz="1100" dirty="0"/>
          </a:p>
        </p:txBody>
      </p:sp>
      <p:sp>
        <p:nvSpPr>
          <p:cNvPr id="21" name="Text 19"/>
          <p:cNvSpPr/>
          <p:nvPr/>
        </p:nvSpPr>
        <p:spPr>
          <a:xfrm>
            <a:off x="6556248" y="3712464"/>
            <a:ext cx="4663440" cy="237744"/>
          </a:xfrm>
          <a:prstGeom prst="rect">
            <a:avLst/>
          </a:prstGeom>
          <a:noFill/>
          <a:ln/>
        </p:spPr>
        <p:txBody>
          <a:bodyPr wrap="square" lIns="0" tIns="0" rIns="0" bIns="0" rtlCol="0" anchor="ctr"/>
          <a:lstStyle/>
          <a:p>
            <a:pPr indent="0" marL="0">
              <a:buNone/>
            </a:pPr>
            <a:r>
              <a:rPr lang="en-US" sz="1350" b="1" dirty="0">
                <a:solidFill>
                  <a:srgbClr val="14202E"/>
                </a:solidFill>
                <a:latin typeface="Calibri" pitchFamily="34" charset="0"/>
                <a:ea typeface="Calibri" pitchFamily="34" charset="-122"/>
                <a:cs typeface="Calibri" pitchFamily="34" charset="-120"/>
              </a:rPr>
              <a:t>Round-robin</a:t>
            </a:r>
            <a:endParaRPr lang="en-US" sz="1350" dirty="0"/>
          </a:p>
        </p:txBody>
      </p:sp>
      <p:sp>
        <p:nvSpPr>
          <p:cNvPr id="22" name="Text 20"/>
          <p:cNvSpPr/>
          <p:nvPr/>
        </p:nvSpPr>
        <p:spPr>
          <a:xfrm>
            <a:off x="6556248" y="3941064"/>
            <a:ext cx="4663440" cy="256032"/>
          </a:xfrm>
          <a:prstGeom prst="rect">
            <a:avLst/>
          </a:prstGeom>
          <a:noFill/>
          <a:ln/>
        </p:spPr>
        <p:txBody>
          <a:bodyPr wrap="square" lIns="0" tIns="0" rIns="0" bIns="0" rtlCol="0" anchor="ctr"/>
          <a:lstStyle/>
          <a:p>
            <a:pPr indent="0" marL="0">
              <a:buNone/>
            </a:pPr>
            <a:r>
              <a:rPr lang="en-US" sz="1100" dirty="0">
                <a:solidFill>
                  <a:srgbClr val="5A6B7D"/>
                </a:solidFill>
                <a:latin typeface="Calibri" pitchFamily="34" charset="0"/>
                <a:ea typeface="Calibri" pitchFamily="34" charset="-122"/>
                <a:cs typeface="Calibri" pitchFamily="34" charset="-120"/>
              </a:rPr>
              <a:t>Filas salteadas: peor localidad de caché.</a:t>
            </a:r>
            <a:endParaRPr lang="en-US" sz="1100" dirty="0"/>
          </a:p>
        </p:txBody>
      </p:sp>
      <p:sp>
        <p:nvSpPr>
          <p:cNvPr id="23" name="Text 21"/>
          <p:cNvSpPr/>
          <p:nvPr/>
        </p:nvSpPr>
        <p:spPr>
          <a:xfrm>
            <a:off x="6556248" y="4224528"/>
            <a:ext cx="4663440" cy="237744"/>
          </a:xfrm>
          <a:prstGeom prst="rect">
            <a:avLst/>
          </a:prstGeom>
          <a:noFill/>
          <a:ln/>
        </p:spPr>
        <p:txBody>
          <a:bodyPr wrap="square" lIns="0" tIns="0" rIns="0" bIns="0" rtlCol="0" anchor="ctr"/>
          <a:lstStyle/>
          <a:p>
            <a:pPr indent="0" marL="0">
              <a:buNone/>
            </a:pPr>
            <a:r>
              <a:rPr lang="en-US" sz="1350" b="1" dirty="0">
                <a:solidFill>
                  <a:srgbClr val="14202E"/>
                </a:solidFill>
                <a:latin typeface="Calibri" pitchFamily="34" charset="0"/>
                <a:ea typeface="Calibri" pitchFamily="34" charset="-122"/>
                <a:cs typeface="Calibri" pitchFamily="34" charset="-120"/>
              </a:rPr>
              <a:t>Chunking dinámico</a:t>
            </a:r>
            <a:endParaRPr lang="en-US" sz="1350" dirty="0"/>
          </a:p>
        </p:txBody>
      </p:sp>
      <p:sp>
        <p:nvSpPr>
          <p:cNvPr id="24" name="Text 22"/>
          <p:cNvSpPr/>
          <p:nvPr/>
        </p:nvSpPr>
        <p:spPr>
          <a:xfrm>
            <a:off x="6556248" y="4453128"/>
            <a:ext cx="4663440" cy="256032"/>
          </a:xfrm>
          <a:prstGeom prst="rect">
            <a:avLst/>
          </a:prstGeom>
          <a:noFill/>
          <a:ln/>
        </p:spPr>
        <p:txBody>
          <a:bodyPr wrap="square" lIns="0" tIns="0" rIns="0" bIns="0" rtlCol="0" anchor="ctr"/>
          <a:lstStyle/>
          <a:p>
            <a:pPr indent="0" marL="0">
              <a:buNone/>
            </a:pPr>
            <a:r>
              <a:rPr lang="en-US" sz="1100" dirty="0">
                <a:solidFill>
                  <a:srgbClr val="5A6B7D"/>
                </a:solidFill>
                <a:latin typeface="Calibri" pitchFamily="34" charset="0"/>
                <a:ea typeface="Calibri" pitchFamily="34" charset="-122"/>
                <a:cs typeface="Calibri" pitchFamily="34" charset="-120"/>
              </a:rPr>
              <a:t>Trozos pequeños tomados de una cola compartida.</a:t>
            </a:r>
            <a:endParaRPr lang="en-US" sz="1100" dirty="0"/>
          </a:p>
        </p:txBody>
      </p:sp>
      <p:sp>
        <p:nvSpPr>
          <p:cNvPr id="25" name="Text 23"/>
          <p:cNvSpPr/>
          <p:nvPr/>
        </p:nvSpPr>
        <p:spPr>
          <a:xfrm>
            <a:off x="6556248" y="4736592"/>
            <a:ext cx="4663440" cy="237744"/>
          </a:xfrm>
          <a:prstGeom prst="rect">
            <a:avLst/>
          </a:prstGeom>
          <a:noFill/>
          <a:ln/>
        </p:spPr>
        <p:txBody>
          <a:bodyPr wrap="square" lIns="0" tIns="0" rIns="0" bIns="0" rtlCol="0" anchor="ctr"/>
          <a:lstStyle/>
          <a:p>
            <a:pPr indent="0" marL="0">
              <a:buNone/>
            </a:pPr>
            <a:r>
              <a:rPr lang="en-US" sz="1350" b="1" dirty="0">
                <a:solidFill>
                  <a:srgbClr val="14202E"/>
                </a:solidFill>
                <a:latin typeface="Calibri" pitchFamily="34" charset="0"/>
                <a:ea typeface="Calibri" pitchFamily="34" charset="-122"/>
                <a:cs typeface="Calibri" pitchFamily="34" charset="-120"/>
              </a:rPr>
              <a:t>Reducción en árbol</a:t>
            </a:r>
            <a:endParaRPr lang="en-US" sz="1350" dirty="0"/>
          </a:p>
        </p:txBody>
      </p:sp>
      <p:sp>
        <p:nvSpPr>
          <p:cNvPr id="26" name="Text 24"/>
          <p:cNvSpPr/>
          <p:nvPr/>
        </p:nvSpPr>
        <p:spPr>
          <a:xfrm>
            <a:off x="6556248" y="4965192"/>
            <a:ext cx="4663440" cy="256032"/>
          </a:xfrm>
          <a:prstGeom prst="rect">
            <a:avLst/>
          </a:prstGeom>
          <a:noFill/>
          <a:ln/>
        </p:spPr>
        <p:txBody>
          <a:bodyPr wrap="square" lIns="0" tIns="0" rIns="0" bIns="0" rtlCol="0" anchor="ctr"/>
          <a:lstStyle/>
          <a:p>
            <a:pPr indent="0" marL="0">
              <a:buNone/>
            </a:pPr>
            <a:r>
              <a:rPr lang="en-US" sz="1100" dirty="0">
                <a:solidFill>
                  <a:srgbClr val="5A6B7D"/>
                </a:solidFill>
                <a:latin typeface="Calibri" pitchFamily="34" charset="0"/>
                <a:ea typeface="Calibri" pitchFamily="34" charset="-122"/>
                <a:cs typeface="Calibri" pitchFamily="34" charset="-120"/>
              </a:rPr>
              <a:t>Fusión de a pares en paralelo: O(log P) niveles.</a:t>
            </a:r>
            <a:endParaRPr lang="en-US" sz="1100" dirty="0"/>
          </a:p>
        </p:txBody>
      </p:sp>
      <p:sp>
        <p:nvSpPr>
          <p:cNvPr id="27" name="Text 25"/>
          <p:cNvSpPr/>
          <p:nvPr/>
        </p:nvSpPr>
        <p:spPr>
          <a:xfrm>
            <a:off x="6556248" y="5248656"/>
            <a:ext cx="4663440" cy="237744"/>
          </a:xfrm>
          <a:prstGeom prst="rect">
            <a:avLst/>
          </a:prstGeom>
          <a:noFill/>
          <a:ln/>
        </p:spPr>
        <p:txBody>
          <a:bodyPr wrap="square" lIns="0" tIns="0" rIns="0" bIns="0" rtlCol="0" anchor="ctr"/>
          <a:lstStyle/>
          <a:p>
            <a:pPr indent="0" marL="0">
              <a:buNone/>
            </a:pPr>
            <a:r>
              <a:rPr lang="en-US" sz="1350" b="1" dirty="0">
                <a:solidFill>
                  <a:srgbClr val="14202E"/>
                </a:solidFill>
                <a:latin typeface="Calibri" pitchFamily="34" charset="0"/>
                <a:ea typeface="Calibri" pitchFamily="34" charset="-122"/>
                <a:cs typeface="Calibri" pitchFamily="34" charset="-120"/>
              </a:rPr>
              <a:t>Grano grueso</a:t>
            </a:r>
            <a:endParaRPr lang="en-US" sz="1350" dirty="0"/>
          </a:p>
        </p:txBody>
      </p:sp>
      <p:sp>
        <p:nvSpPr>
          <p:cNvPr id="28" name="Text 26"/>
          <p:cNvSpPr/>
          <p:nvPr/>
        </p:nvSpPr>
        <p:spPr>
          <a:xfrm>
            <a:off x="6556248" y="5477256"/>
            <a:ext cx="4663440" cy="256032"/>
          </a:xfrm>
          <a:prstGeom prst="rect">
            <a:avLst/>
          </a:prstGeom>
          <a:noFill/>
          <a:ln/>
        </p:spPr>
        <p:txBody>
          <a:bodyPr wrap="square" lIns="0" tIns="0" rIns="0" bIns="0" rtlCol="0" anchor="ctr"/>
          <a:lstStyle/>
          <a:p>
            <a:pPr indent="0" marL="0">
              <a:buNone/>
            </a:pPr>
            <a:r>
              <a:rPr lang="en-US" sz="1100" dirty="0">
                <a:solidFill>
                  <a:srgbClr val="5A6B7D"/>
                </a:solidFill>
                <a:latin typeface="Calibri" pitchFamily="34" charset="0"/>
                <a:ea typeface="Calibri" pitchFamily="34" charset="-122"/>
                <a:cs typeface="Calibri" pitchFamily="34" charset="-120"/>
              </a:rPr>
              <a:t>Cero estado compartido; fusión secuencial al final.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58368" y="182880"/>
            <a:ext cx="10881360" cy="274320"/>
          </a:xfrm>
          <a:prstGeom prst="rect">
            <a:avLst/>
          </a:prstGeom>
          <a:noFill/>
          <a:ln/>
        </p:spPr>
        <p:txBody>
          <a:bodyPr wrap="square" lIns="0" tIns="0" rIns="0" bIns="0" rtlCol="0" anchor="ctr"/>
          <a:lstStyle/>
          <a:p>
            <a:pPr indent="0" marL="0">
              <a:buNone/>
            </a:pPr>
            <a:r>
              <a:rPr lang="en-US" sz="1200" b="1" spc="200" kern="0" dirty="0">
                <a:solidFill>
                  <a:srgbClr val="E94F4F"/>
                </a:solidFill>
                <a:latin typeface="Calibri" pitchFamily="34" charset="0"/>
                <a:ea typeface="Calibri" pitchFamily="34" charset="-122"/>
                <a:cs typeface="Calibri" pitchFamily="34" charset="-120"/>
              </a:rPr>
              <a:t>HALLAZGO 1</a:t>
            </a:r>
            <a:endParaRPr lang="en-US" sz="1200" dirty="0"/>
          </a:p>
        </p:txBody>
      </p:sp>
      <p:sp>
        <p:nvSpPr>
          <p:cNvPr id="3" name="Text 1"/>
          <p:cNvSpPr/>
          <p:nvPr/>
        </p:nvSpPr>
        <p:spPr>
          <a:xfrm>
            <a:off x="640080" y="411480"/>
            <a:ext cx="10972800" cy="685800"/>
          </a:xfrm>
          <a:prstGeom prst="rect">
            <a:avLst/>
          </a:prstGeom>
          <a:noFill/>
          <a:ln/>
        </p:spPr>
        <p:txBody>
          <a:bodyPr wrap="square" lIns="0" tIns="0" rIns="0" bIns="0" rtlCol="0" anchor="ctr"/>
          <a:lstStyle/>
          <a:p>
            <a:pPr algn="l" indent="0" marL="0">
              <a:buNone/>
            </a:pPr>
            <a:r>
              <a:rPr lang="en-US" sz="3800" b="1" dirty="0">
                <a:solidFill>
                  <a:srgbClr val="14202E"/>
                </a:solidFill>
                <a:latin typeface="Cambria" pitchFamily="34" charset="0"/>
                <a:ea typeface="Cambria" pitchFamily="34" charset="-122"/>
                <a:cs typeface="Cambria" pitchFamily="34" charset="-120"/>
              </a:rPr>
              <a:t>El candado global se come el paralelismo</a:t>
            </a:r>
            <a:endParaRPr lang="en-US" sz="3800" dirty="0"/>
          </a:p>
        </p:txBody>
      </p:sp>
      <p:graphicFrame>
        <p:nvGraphicFramePr>
          <p:cNvPr id="4" name="Chart 0" descr=""/>
          <p:cNvGraphicFramePr/>
          <p:nvPr/>
        </p:nvGraphicFramePr>
        <p:xfrm>
          <a:off x="640080" y="1417320"/>
          <a:ext cx="667512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58368" y="5577840"/>
            <a:ext cx="6675120" cy="274320"/>
          </a:xfrm>
          <a:prstGeom prst="rect">
            <a:avLst/>
          </a:prstGeom>
          <a:noFill/>
          <a:ln/>
        </p:spPr>
        <p:txBody>
          <a:bodyPr wrap="square" lIns="0" tIns="0" rIns="0" bIns="0" rtlCol="0" anchor="ctr"/>
          <a:lstStyle/>
          <a:p>
            <a:pPr indent="0" marL="0">
              <a:buNone/>
            </a:pPr>
            <a:r>
              <a:rPr lang="en-US" sz="1100" i="1" dirty="0">
                <a:solidFill>
                  <a:srgbClr val="5A6B7D"/>
                </a:solidFill>
                <a:latin typeface="Calibri" pitchFamily="34" charset="0"/>
                <a:ea typeface="Calibri" pitchFamily="34" charset="-122"/>
                <a:cs typeface="Calibri" pitchFamily="34" charset="-120"/>
              </a:rPr>
              <a:t>Tiempo total que los hilos pasan esperando el lock — 5 millones de filas</a:t>
            </a:r>
            <a:endParaRPr lang="en-US" sz="1100" dirty="0"/>
          </a:p>
        </p:txBody>
      </p:sp>
      <p:sp>
        <p:nvSpPr>
          <p:cNvPr id="6" name="Shape 3"/>
          <p:cNvSpPr/>
          <p:nvPr/>
        </p:nvSpPr>
        <p:spPr>
          <a:xfrm>
            <a:off x="7772400" y="1417320"/>
            <a:ext cx="3776472" cy="4114800"/>
          </a:xfrm>
          <a:prstGeom prst="roundRect">
            <a:avLst>
              <a:gd name="adj" fmla="val 1937"/>
            </a:avLst>
          </a:prstGeom>
          <a:solidFill>
            <a:srgbClr val="14202E"/>
          </a:solidFill>
          <a:ln w="12700">
            <a:solidFill>
              <a:srgbClr val="14202E"/>
            </a:solidFill>
            <a:prstDash val="solid"/>
          </a:ln>
          <a:effectLst>
            <a:outerShdw sx="100000" sy="100000" kx="0" ky="0" algn="bl" rotWithShape="0" blurRad="127000" dist="25400" dir="5400000">
              <a:srgbClr val="9AA9B8">
                <a:alpha val="22000"/>
              </a:srgbClr>
            </a:outerShdw>
          </a:effectLst>
        </p:spPr>
      </p:sp>
      <p:sp>
        <p:nvSpPr>
          <p:cNvPr id="7" name="Text 4"/>
          <p:cNvSpPr/>
          <p:nvPr/>
        </p:nvSpPr>
        <p:spPr>
          <a:xfrm>
            <a:off x="8092440" y="1783080"/>
            <a:ext cx="3108960" cy="914400"/>
          </a:xfrm>
          <a:prstGeom prst="rect">
            <a:avLst/>
          </a:prstGeom>
          <a:noFill/>
          <a:ln/>
        </p:spPr>
        <p:txBody>
          <a:bodyPr wrap="square" lIns="0" tIns="0" rIns="0" bIns="0" rtlCol="0" anchor="ctr"/>
          <a:lstStyle/>
          <a:p>
            <a:pPr indent="0" marL="0">
              <a:buNone/>
            </a:pPr>
            <a:r>
              <a:rPr lang="en-US" sz="6000" b="1" dirty="0">
                <a:solidFill>
                  <a:srgbClr val="E94F4F"/>
                </a:solidFill>
                <a:latin typeface="Cambria" pitchFamily="34" charset="0"/>
                <a:ea typeface="Cambria" pitchFamily="34" charset="-122"/>
                <a:cs typeface="Cambria" pitchFamily="34" charset="-120"/>
              </a:rPr>
              <a:t>44×</a:t>
            </a:r>
            <a:endParaRPr lang="en-US" sz="6000" dirty="0"/>
          </a:p>
        </p:txBody>
      </p:sp>
      <p:sp>
        <p:nvSpPr>
          <p:cNvPr id="8" name="Text 5"/>
          <p:cNvSpPr/>
          <p:nvPr/>
        </p:nvSpPr>
        <p:spPr>
          <a:xfrm>
            <a:off x="8092440" y="2743200"/>
            <a:ext cx="3108960" cy="777240"/>
          </a:xfrm>
          <a:prstGeom prst="rect">
            <a:avLst/>
          </a:prstGeom>
          <a:noFill/>
          <a:ln/>
        </p:spPr>
        <p:txBody>
          <a:bodyPr wrap="square" lIns="0" tIns="0" rIns="0" bIns="0" rtlCol="0" anchor="ctr"/>
          <a:lstStyle/>
          <a:p>
            <a:pPr indent="0" marL="0">
              <a:lnSpc>
                <a:spcPts val="2100"/>
              </a:lnSpc>
              <a:buNone/>
            </a:pPr>
            <a:r>
              <a:rPr lang="en-US" sz="1500" dirty="0">
                <a:solidFill>
                  <a:srgbClr val="FFFFFF"/>
                </a:solidFill>
                <a:latin typeface="Calibri" pitchFamily="34" charset="0"/>
                <a:ea typeface="Calibri" pitchFamily="34" charset="-122"/>
                <a:cs typeface="Calibri" pitchFamily="34" charset="-120"/>
              </a:rPr>
              <a:t>más tiempo perdido esperando el candado al pasar de 1 a 8 hilos.</a:t>
            </a:r>
            <a:endParaRPr lang="en-US" sz="1500" dirty="0"/>
          </a:p>
        </p:txBody>
      </p:sp>
      <p:sp>
        <p:nvSpPr>
          <p:cNvPr id="9" name="Text 6"/>
          <p:cNvSpPr/>
          <p:nvPr/>
        </p:nvSpPr>
        <p:spPr>
          <a:xfrm>
            <a:off x="8092440" y="3703320"/>
            <a:ext cx="3108960" cy="1280160"/>
          </a:xfrm>
          <a:prstGeom prst="rect">
            <a:avLst/>
          </a:prstGeom>
          <a:noFill/>
          <a:ln/>
        </p:spPr>
        <p:txBody>
          <a:bodyPr wrap="square" lIns="0" tIns="0" rIns="0" bIns="0" rtlCol="0" anchor="ctr"/>
          <a:lstStyle/>
          <a:p>
            <a:pPr indent="0" marL="0">
              <a:lnSpc>
                <a:spcPts val="1800"/>
              </a:lnSpc>
              <a:buNone/>
            </a:pPr>
            <a:r>
              <a:rPr lang="en-US" sz="1250" dirty="0">
                <a:solidFill>
                  <a:srgbClr val="9BB0C4"/>
                </a:solidFill>
                <a:latin typeface="Calibri" pitchFamily="34" charset="0"/>
                <a:ea typeface="Calibri" pitchFamily="34" charset="-122"/>
                <a:cs typeface="Calibri" pitchFamily="34" charset="-120"/>
              </a:rPr>
              <a:t>Con 8 hilos, la espera acumulada (10.6 s) supera el tiempo total de la corrida: casi todo el paralelismo se gasta en hacer cola, no en trabajar.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58368" y="182880"/>
            <a:ext cx="1088136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RESULTADOS</a:t>
            </a:r>
            <a:endParaRPr lang="en-US" sz="1200" dirty="0"/>
          </a:p>
        </p:txBody>
      </p:sp>
      <p:sp>
        <p:nvSpPr>
          <p:cNvPr id="3" name="Text 1"/>
          <p:cNvSpPr/>
          <p:nvPr/>
        </p:nvSpPr>
        <p:spPr>
          <a:xfrm>
            <a:off x="640080" y="411480"/>
            <a:ext cx="10972800" cy="685800"/>
          </a:xfrm>
          <a:prstGeom prst="rect">
            <a:avLst/>
          </a:prstGeom>
          <a:noFill/>
          <a:ln/>
        </p:spPr>
        <p:txBody>
          <a:bodyPr wrap="square" lIns="0" tIns="0" rIns="0" bIns="0" rtlCol="0" anchor="ctr"/>
          <a:lstStyle/>
          <a:p>
            <a:pPr algn="l" indent="0" marL="0">
              <a:buNone/>
            </a:pPr>
            <a:r>
              <a:rPr lang="en-US" sz="3800" b="1" dirty="0">
                <a:solidFill>
                  <a:srgbClr val="14202E"/>
                </a:solidFill>
                <a:latin typeface="Cambria" pitchFamily="34" charset="0"/>
                <a:ea typeface="Cambria" pitchFamily="34" charset="-122"/>
                <a:cs typeface="Cambria" pitchFamily="34" charset="-120"/>
              </a:rPr>
              <a:t>Eficiencia con 8 hilos</a:t>
            </a:r>
            <a:endParaRPr lang="en-US" sz="3800" dirty="0"/>
          </a:p>
        </p:txBody>
      </p:sp>
      <p:graphicFrame>
        <p:nvGraphicFramePr>
          <p:cNvPr id="4" name="Chart 0" descr=""/>
          <p:cNvGraphicFramePr/>
          <p:nvPr/>
        </p:nvGraphicFramePr>
        <p:xfrm>
          <a:off x="640080" y="1325880"/>
          <a:ext cx="7452360" cy="4343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58368" y="5715000"/>
            <a:ext cx="7452360" cy="274320"/>
          </a:xfrm>
          <a:prstGeom prst="rect">
            <a:avLst/>
          </a:prstGeom>
          <a:noFill/>
          <a:ln/>
        </p:spPr>
        <p:txBody>
          <a:bodyPr wrap="square" lIns="0" tIns="0" rIns="0" bIns="0" rtlCol="0" anchor="ctr"/>
          <a:lstStyle/>
          <a:p>
            <a:pPr indent="0" marL="0">
              <a:buNone/>
            </a:pPr>
            <a:r>
              <a:rPr lang="en-US" sz="1100" i="1" dirty="0">
                <a:solidFill>
                  <a:srgbClr val="5A6B7D"/>
                </a:solidFill>
                <a:latin typeface="Calibri" pitchFamily="34" charset="0"/>
                <a:ea typeface="Calibri" pitchFamily="34" charset="-122"/>
                <a:cs typeface="Calibri" pitchFamily="34" charset="-120"/>
              </a:rPr>
              <a:t>Promedio de 3 corridas · 5 M de filas · Release · con calentamiento global</a:t>
            </a:r>
            <a:endParaRPr lang="en-US" sz="1100" dirty="0"/>
          </a:p>
        </p:txBody>
      </p:sp>
      <p:sp>
        <p:nvSpPr>
          <p:cNvPr id="6" name="Shape 3"/>
          <p:cNvSpPr/>
          <p:nvPr/>
        </p:nvSpPr>
        <p:spPr>
          <a:xfrm>
            <a:off x="8412480" y="1325880"/>
            <a:ext cx="3136392" cy="2057400"/>
          </a:xfrm>
          <a:prstGeom prst="roundRect">
            <a:avLst>
              <a:gd name="adj" fmla="val 3556"/>
            </a:avLst>
          </a:prstGeom>
          <a:solidFill>
            <a:srgbClr val="14202E"/>
          </a:solidFill>
          <a:ln w="12700">
            <a:solidFill>
              <a:srgbClr val="14202E"/>
            </a:solidFill>
            <a:prstDash val="solid"/>
          </a:ln>
          <a:effectLst>
            <a:outerShdw sx="100000" sy="100000" kx="0" ky="0" algn="bl" rotWithShape="0" blurRad="127000" dist="25400" dir="5400000">
              <a:srgbClr val="9AA9B8">
                <a:alpha val="22000"/>
              </a:srgbClr>
            </a:outerShdw>
          </a:effectLst>
        </p:spPr>
      </p:sp>
      <p:sp>
        <p:nvSpPr>
          <p:cNvPr id="7" name="Text 4"/>
          <p:cNvSpPr/>
          <p:nvPr/>
        </p:nvSpPr>
        <p:spPr>
          <a:xfrm>
            <a:off x="8686800" y="1600200"/>
            <a:ext cx="2651760" cy="502920"/>
          </a:xfrm>
          <a:prstGeom prst="rect">
            <a:avLst/>
          </a:prstGeom>
          <a:noFill/>
          <a:ln/>
        </p:spPr>
        <p:txBody>
          <a:bodyPr wrap="square" lIns="0" tIns="0" rIns="0" bIns="0" rtlCol="0" anchor="ctr"/>
          <a:lstStyle/>
          <a:p>
            <a:pPr indent="0" marL="0">
              <a:buNone/>
            </a:pPr>
            <a:r>
              <a:rPr lang="en-US" sz="2800" b="1" dirty="0">
                <a:solidFill>
                  <a:srgbClr val="E94F4F"/>
                </a:solidFill>
                <a:latin typeface="Cambria" pitchFamily="34" charset="0"/>
                <a:ea typeface="Cambria" pitchFamily="34" charset="-122"/>
                <a:cs typeface="Cambria" pitchFamily="34" charset="-120"/>
              </a:rPr>
              <a:t>6 – 10 %</a:t>
            </a:r>
            <a:endParaRPr lang="en-US" sz="2800" dirty="0"/>
          </a:p>
        </p:txBody>
      </p:sp>
      <p:sp>
        <p:nvSpPr>
          <p:cNvPr id="8" name="Text 5"/>
          <p:cNvSpPr/>
          <p:nvPr/>
        </p:nvSpPr>
        <p:spPr>
          <a:xfrm>
            <a:off x="8686800" y="2148840"/>
            <a:ext cx="26517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Sincronizando por fila</a:t>
            </a:r>
            <a:endParaRPr lang="en-US" sz="1300" dirty="0"/>
          </a:p>
        </p:txBody>
      </p:sp>
      <p:sp>
        <p:nvSpPr>
          <p:cNvPr id="9" name="Text 6"/>
          <p:cNvSpPr/>
          <p:nvPr/>
        </p:nvSpPr>
        <p:spPr>
          <a:xfrm>
            <a:off x="8686800" y="2450592"/>
            <a:ext cx="2651760" cy="731520"/>
          </a:xfrm>
          <a:prstGeom prst="rect">
            <a:avLst/>
          </a:prstGeom>
          <a:noFill/>
          <a:ln/>
        </p:spPr>
        <p:txBody>
          <a:bodyPr wrap="square" lIns="0" tIns="0" rIns="0" bIns="0" rtlCol="0" anchor="ctr"/>
          <a:lstStyle/>
          <a:p>
            <a:pPr indent="0" marL="0">
              <a:lnSpc>
                <a:spcPts val="1600"/>
              </a:lnSpc>
              <a:buNone/>
            </a:pPr>
            <a:r>
              <a:rPr lang="en-US" sz="1150" dirty="0">
                <a:solidFill>
                  <a:srgbClr val="9BB0C4"/>
                </a:solidFill>
                <a:latin typeface="Calibri" pitchFamily="34" charset="0"/>
                <a:ea typeface="Calibri" pitchFamily="34" charset="-122"/>
                <a:cs typeface="Calibri" pitchFamily="34" charset="-120"/>
              </a:rPr>
              <a:t>Agregar hilos no ayuda: tres de ellas van más lento que un solo hilo.</a:t>
            </a:r>
            <a:endParaRPr lang="en-US" sz="1150" dirty="0"/>
          </a:p>
        </p:txBody>
      </p:sp>
      <p:sp>
        <p:nvSpPr>
          <p:cNvPr id="10" name="Shape 7"/>
          <p:cNvSpPr/>
          <p:nvPr/>
        </p:nvSpPr>
        <p:spPr>
          <a:xfrm>
            <a:off x="8412480" y="3611880"/>
            <a:ext cx="3136392" cy="2057400"/>
          </a:xfrm>
          <a:prstGeom prst="roundRect">
            <a:avLst>
              <a:gd name="adj" fmla="val 3556"/>
            </a:avLst>
          </a:prstGeom>
          <a:solidFill>
            <a:srgbClr val="14202E"/>
          </a:solidFill>
          <a:ln w="12700">
            <a:solidFill>
              <a:srgbClr val="14202E"/>
            </a:solidFill>
            <a:prstDash val="solid"/>
          </a:ln>
          <a:effectLst>
            <a:outerShdw sx="100000" sy="100000" kx="0" ky="0" algn="bl" rotWithShape="0" blurRad="127000" dist="25400" dir="5400000">
              <a:srgbClr val="9AA9B8">
                <a:alpha val="22000"/>
              </a:srgbClr>
            </a:outerShdw>
          </a:effectLst>
        </p:spPr>
      </p:sp>
      <p:sp>
        <p:nvSpPr>
          <p:cNvPr id="11" name="Text 8"/>
          <p:cNvSpPr/>
          <p:nvPr/>
        </p:nvSpPr>
        <p:spPr>
          <a:xfrm>
            <a:off x="8686800" y="3886200"/>
            <a:ext cx="2651760" cy="502920"/>
          </a:xfrm>
          <a:prstGeom prst="rect">
            <a:avLst/>
          </a:prstGeom>
          <a:noFill/>
          <a:ln/>
        </p:spPr>
        <p:txBody>
          <a:bodyPr wrap="square" lIns="0" tIns="0" rIns="0" bIns="0" rtlCol="0" anchor="ctr"/>
          <a:lstStyle/>
          <a:p>
            <a:pPr indent="0" marL="0">
              <a:buNone/>
            </a:pPr>
            <a:r>
              <a:rPr lang="en-US" sz="2800" b="1" dirty="0">
                <a:solidFill>
                  <a:srgbClr val="02C39A"/>
                </a:solidFill>
                <a:latin typeface="Cambria" pitchFamily="34" charset="0"/>
                <a:ea typeface="Cambria" pitchFamily="34" charset="-122"/>
                <a:cs typeface="Cambria" pitchFamily="34" charset="-120"/>
              </a:rPr>
              <a:t>32 – 42 %</a:t>
            </a:r>
            <a:endParaRPr lang="en-US" sz="2800" dirty="0"/>
          </a:p>
        </p:txBody>
      </p:sp>
      <p:sp>
        <p:nvSpPr>
          <p:cNvPr id="12" name="Text 9"/>
          <p:cNvSpPr/>
          <p:nvPr/>
        </p:nvSpPr>
        <p:spPr>
          <a:xfrm>
            <a:off x="8686800" y="4434840"/>
            <a:ext cx="26517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Sincronizando por partición</a:t>
            </a:r>
            <a:endParaRPr lang="en-US" sz="1300" dirty="0"/>
          </a:p>
        </p:txBody>
      </p:sp>
      <p:sp>
        <p:nvSpPr>
          <p:cNvPr id="13" name="Text 10"/>
          <p:cNvSpPr/>
          <p:nvPr/>
        </p:nvSpPr>
        <p:spPr>
          <a:xfrm>
            <a:off x="8686800" y="4736592"/>
            <a:ext cx="2651760" cy="731520"/>
          </a:xfrm>
          <a:prstGeom prst="rect">
            <a:avLst/>
          </a:prstGeom>
          <a:noFill/>
          <a:ln/>
        </p:spPr>
        <p:txBody>
          <a:bodyPr wrap="square" lIns="0" tIns="0" rIns="0" bIns="0" rtlCol="0" anchor="ctr"/>
          <a:lstStyle/>
          <a:p>
            <a:pPr indent="0" marL="0">
              <a:lnSpc>
                <a:spcPts val="1600"/>
              </a:lnSpc>
              <a:buNone/>
            </a:pPr>
            <a:r>
              <a:rPr lang="en-US" sz="1150" dirty="0">
                <a:solidFill>
                  <a:srgbClr val="9BB0C4"/>
                </a:solidFill>
                <a:latin typeface="Calibri" pitchFamily="34" charset="0"/>
                <a:ea typeface="Calibri" pitchFamily="34" charset="-122"/>
                <a:cs typeface="Calibri" pitchFamily="34" charset="-120"/>
              </a:rPr>
              <a:t>Entre 4 y 7 veces mejor, con los mismos hilos. Es la conclusión central del proyecto.</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58368" y="182880"/>
            <a:ext cx="10881360" cy="274320"/>
          </a:xfrm>
          <a:prstGeom prst="rect">
            <a:avLst/>
          </a:prstGeom>
          <a:noFill/>
          <a:ln/>
        </p:spPr>
        <p:txBody>
          <a:bodyPr wrap="square" lIns="0" tIns="0" rIns="0" bIns="0" rtlCol="0" anchor="ctr"/>
          <a:lstStyle/>
          <a:p>
            <a:pPr indent="0" marL="0">
              <a:buNone/>
            </a:pPr>
            <a:r>
              <a:rPr lang="en-US" sz="1200" b="1" spc="200" kern="0" dirty="0">
                <a:solidFill>
                  <a:srgbClr val="E94F4F"/>
                </a:solidFill>
                <a:latin typeface="Calibri" pitchFamily="34" charset="0"/>
                <a:ea typeface="Calibri" pitchFamily="34" charset="-122"/>
                <a:cs typeface="Calibri" pitchFamily="34" charset="-120"/>
              </a:rPr>
              <a:t>LO QUE SALIÓ MAL</a:t>
            </a:r>
            <a:endParaRPr lang="en-US" sz="1200" dirty="0"/>
          </a:p>
        </p:txBody>
      </p:sp>
      <p:sp>
        <p:nvSpPr>
          <p:cNvPr id="3" name="Text 1"/>
          <p:cNvSpPr/>
          <p:nvPr/>
        </p:nvSpPr>
        <p:spPr>
          <a:xfrm>
            <a:off x="640080" y="411480"/>
            <a:ext cx="10972800" cy="685800"/>
          </a:xfrm>
          <a:prstGeom prst="rect">
            <a:avLst/>
          </a:prstGeom>
          <a:noFill/>
          <a:ln/>
        </p:spPr>
        <p:txBody>
          <a:bodyPr wrap="square" lIns="0" tIns="0" rIns="0" bIns="0" rtlCol="0" anchor="ctr"/>
          <a:lstStyle/>
          <a:p>
            <a:pPr algn="l" indent="0" marL="0">
              <a:buNone/>
            </a:pPr>
            <a:r>
              <a:rPr lang="en-US" sz="3800" b="1" dirty="0">
                <a:solidFill>
                  <a:srgbClr val="14202E"/>
                </a:solidFill>
                <a:latin typeface="Cambria" pitchFamily="34" charset="0"/>
                <a:ea typeface="Cambria" pitchFamily="34" charset="-122"/>
                <a:cs typeface="Cambria" pitchFamily="34" charset="-120"/>
              </a:rPr>
              <a:t>Cuatro errores que encontramos</a:t>
            </a:r>
            <a:endParaRPr lang="en-US" sz="3800" dirty="0"/>
          </a:p>
        </p:txBody>
      </p:sp>
      <p:sp>
        <p:nvSpPr>
          <p:cNvPr id="4" name="Text 2"/>
          <p:cNvSpPr/>
          <p:nvPr/>
        </p:nvSpPr>
        <p:spPr>
          <a:xfrm>
            <a:off x="658368" y="1188720"/>
            <a:ext cx="10881360" cy="365760"/>
          </a:xfrm>
          <a:prstGeom prst="rect">
            <a:avLst/>
          </a:prstGeom>
          <a:noFill/>
          <a:ln/>
        </p:spPr>
        <p:txBody>
          <a:bodyPr wrap="square" lIns="0" tIns="0" rIns="0" bIns="0" rtlCol="0" anchor="ctr"/>
          <a:lstStyle/>
          <a:p>
            <a:pPr indent="0" marL="0">
              <a:buNone/>
            </a:pPr>
            <a:r>
              <a:rPr lang="en-US" sz="1500" dirty="0">
                <a:solidFill>
                  <a:srgbClr val="5A6B7D"/>
                </a:solidFill>
                <a:latin typeface="Calibri" pitchFamily="34" charset="0"/>
                <a:ea typeface="Calibri" pitchFamily="34" charset="-122"/>
                <a:cs typeface="Calibri" pitchFamily="34" charset="-120"/>
              </a:rPr>
              <a:t>Los primeros resultados parecían buenos, pero no eran confiables. Estos son los errores que hubo que corregir para que los números significaran algo.</a:t>
            </a:r>
            <a:endParaRPr lang="en-US" sz="1500" dirty="0"/>
          </a:p>
        </p:txBody>
      </p:sp>
      <p:sp>
        <p:nvSpPr>
          <p:cNvPr id="5" name="Shape 3"/>
          <p:cNvSpPr/>
          <p:nvPr/>
        </p:nvSpPr>
        <p:spPr>
          <a:xfrm>
            <a:off x="640080" y="1783080"/>
            <a:ext cx="5257800" cy="1783080"/>
          </a:xfrm>
          <a:prstGeom prst="roundRect">
            <a:avLst>
              <a:gd name="adj" fmla="val 4103"/>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6" name="Shape 4"/>
          <p:cNvSpPr/>
          <p:nvPr/>
        </p:nvSpPr>
        <p:spPr>
          <a:xfrm>
            <a:off x="932688" y="2057400"/>
            <a:ext cx="457200" cy="457200"/>
          </a:xfrm>
          <a:prstGeom prst="ellipse">
            <a:avLst/>
          </a:prstGeom>
          <a:solidFill>
            <a:srgbClr val="E94F4F"/>
          </a:solidFill>
          <a:ln w="12700">
            <a:solidFill>
              <a:srgbClr val="E94F4F"/>
            </a:solidFill>
            <a:prstDash val="solid"/>
          </a:ln>
        </p:spPr>
      </p:sp>
      <p:sp>
        <p:nvSpPr>
          <p:cNvPr id="7" name="Text 5"/>
          <p:cNvSpPr/>
          <p:nvPr/>
        </p:nvSpPr>
        <p:spPr>
          <a:xfrm>
            <a:off x="932688" y="2057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554480" y="2093976"/>
            <a:ext cx="4114800" cy="365760"/>
          </a:xfrm>
          <a:prstGeom prst="rect">
            <a:avLst/>
          </a:prstGeom>
          <a:noFill/>
          <a:ln/>
        </p:spPr>
        <p:txBody>
          <a:bodyPr wrap="square" lIns="0" tIns="0" rIns="0" bIns="0" rtlCol="0" anchor="ctr"/>
          <a:lstStyle/>
          <a:p>
            <a:pPr indent="0" marL="0">
              <a:buNone/>
            </a:pPr>
            <a:r>
              <a:rPr lang="en-US" sz="1550" b="1" dirty="0">
                <a:solidFill>
                  <a:srgbClr val="14202E"/>
                </a:solidFill>
                <a:latin typeface="Calibri" pitchFamily="34" charset="0"/>
                <a:ea typeface="Calibri" pitchFamily="34" charset="-122"/>
                <a:cs typeface="Calibri" pitchFamily="34" charset="-120"/>
              </a:rPr>
              <a:t>Conclusión de una sola corrida</a:t>
            </a:r>
            <a:endParaRPr lang="en-US" sz="1550" dirty="0"/>
          </a:p>
        </p:txBody>
      </p:sp>
      <p:sp>
        <p:nvSpPr>
          <p:cNvPr id="9" name="Text 7"/>
          <p:cNvSpPr/>
          <p:nvPr/>
        </p:nvSpPr>
        <p:spPr>
          <a:xfrm>
            <a:off x="950976" y="2569464"/>
            <a:ext cx="4663440" cy="777240"/>
          </a:xfrm>
          <a:prstGeom prst="rect">
            <a:avLst/>
          </a:prstGeom>
          <a:noFill/>
          <a:ln/>
        </p:spPr>
        <p:txBody>
          <a:bodyPr wrap="square" lIns="0" tIns="0" rIns="0" bIns="0" rtlCol="0" anchor="ctr"/>
          <a:lstStyle/>
          <a:p>
            <a:pPr indent="0" marL="0">
              <a:lnSpc>
                <a:spcPts val="1700"/>
              </a:lnSpc>
              <a:buNone/>
            </a:pPr>
            <a:r>
              <a:rPr lang="en-US" sz="1250" dirty="0">
                <a:solidFill>
                  <a:srgbClr val="5A6B7D"/>
                </a:solidFill>
                <a:latin typeface="Calibri" pitchFamily="34" charset="0"/>
                <a:ea typeface="Calibri" pitchFamily="34" charset="-122"/>
                <a:cs typeface="Calibri" pitchFamily="34" charset="-120"/>
              </a:rPr>
              <a:t>Se declaró una estrategia ganadora con una única medición. Al repetirla 3 veces, el orden cambió por completo.</a:t>
            </a:r>
            <a:endParaRPr lang="en-US" sz="1250" dirty="0"/>
          </a:p>
        </p:txBody>
      </p:sp>
      <p:sp>
        <p:nvSpPr>
          <p:cNvPr id="10" name="Shape 8"/>
          <p:cNvSpPr/>
          <p:nvPr/>
        </p:nvSpPr>
        <p:spPr>
          <a:xfrm>
            <a:off x="6263640" y="1783080"/>
            <a:ext cx="5257800" cy="1783080"/>
          </a:xfrm>
          <a:prstGeom prst="roundRect">
            <a:avLst>
              <a:gd name="adj" fmla="val 4103"/>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11" name="Shape 9"/>
          <p:cNvSpPr/>
          <p:nvPr/>
        </p:nvSpPr>
        <p:spPr>
          <a:xfrm>
            <a:off x="6556248" y="2057400"/>
            <a:ext cx="457200" cy="457200"/>
          </a:xfrm>
          <a:prstGeom prst="ellipse">
            <a:avLst/>
          </a:prstGeom>
          <a:solidFill>
            <a:srgbClr val="E94F4F"/>
          </a:solidFill>
          <a:ln w="12700">
            <a:solidFill>
              <a:srgbClr val="E94F4F"/>
            </a:solidFill>
            <a:prstDash val="solid"/>
          </a:ln>
        </p:spPr>
      </p:sp>
      <p:sp>
        <p:nvSpPr>
          <p:cNvPr id="12" name="Text 10"/>
          <p:cNvSpPr/>
          <p:nvPr/>
        </p:nvSpPr>
        <p:spPr>
          <a:xfrm>
            <a:off x="6556248" y="2057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7178040" y="2093976"/>
            <a:ext cx="4114800" cy="365760"/>
          </a:xfrm>
          <a:prstGeom prst="rect">
            <a:avLst/>
          </a:prstGeom>
          <a:noFill/>
          <a:ln/>
        </p:spPr>
        <p:txBody>
          <a:bodyPr wrap="square" lIns="0" tIns="0" rIns="0" bIns="0" rtlCol="0" anchor="ctr"/>
          <a:lstStyle/>
          <a:p>
            <a:pPr indent="0" marL="0">
              <a:buNone/>
            </a:pPr>
            <a:r>
              <a:rPr lang="en-US" sz="1550" b="1" dirty="0">
                <a:solidFill>
                  <a:srgbClr val="14202E"/>
                </a:solidFill>
                <a:latin typeface="Calibri" pitchFamily="34" charset="0"/>
                <a:ea typeface="Calibri" pitchFamily="34" charset="-122"/>
                <a:cs typeface="Calibri" pitchFamily="34" charset="-120"/>
              </a:rPr>
              <a:t>Dataset demasiado pequeño</a:t>
            </a:r>
            <a:endParaRPr lang="en-US" sz="1550" dirty="0"/>
          </a:p>
        </p:txBody>
      </p:sp>
      <p:sp>
        <p:nvSpPr>
          <p:cNvPr id="14" name="Text 12"/>
          <p:cNvSpPr/>
          <p:nvPr/>
        </p:nvSpPr>
        <p:spPr>
          <a:xfrm>
            <a:off x="6574536" y="2569464"/>
            <a:ext cx="4663440" cy="777240"/>
          </a:xfrm>
          <a:prstGeom prst="rect">
            <a:avLst/>
          </a:prstGeom>
          <a:noFill/>
          <a:ln/>
        </p:spPr>
        <p:txBody>
          <a:bodyPr wrap="square" lIns="0" tIns="0" rIns="0" bIns="0" rtlCol="0" anchor="ctr"/>
          <a:lstStyle/>
          <a:p>
            <a:pPr indent="0" marL="0">
              <a:lnSpc>
                <a:spcPts val="1700"/>
              </a:lnSpc>
              <a:buNone/>
            </a:pPr>
            <a:r>
              <a:rPr lang="en-US" sz="1250" dirty="0">
                <a:solidFill>
                  <a:srgbClr val="5A6B7D"/>
                </a:solidFill>
                <a:latin typeface="Calibri" pitchFamily="34" charset="0"/>
                <a:ea typeface="Calibri" pitchFamily="34" charset="-122"/>
                <a:cs typeface="Calibri" pitchFamily="34" charset="-120"/>
              </a:rPr>
              <a:t>Con 1 M de filas cada hilo trabaja ~0.02 s: el ruido de otros procesos de la máquina domina la medición.</a:t>
            </a:r>
            <a:endParaRPr lang="en-US" sz="1250" dirty="0"/>
          </a:p>
        </p:txBody>
      </p:sp>
      <p:sp>
        <p:nvSpPr>
          <p:cNvPr id="15" name="Shape 13"/>
          <p:cNvSpPr/>
          <p:nvPr/>
        </p:nvSpPr>
        <p:spPr>
          <a:xfrm>
            <a:off x="640080" y="3794760"/>
            <a:ext cx="5257800" cy="1783080"/>
          </a:xfrm>
          <a:prstGeom prst="roundRect">
            <a:avLst>
              <a:gd name="adj" fmla="val 4103"/>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16" name="Shape 14"/>
          <p:cNvSpPr/>
          <p:nvPr/>
        </p:nvSpPr>
        <p:spPr>
          <a:xfrm>
            <a:off x="932688" y="4069080"/>
            <a:ext cx="457200" cy="457200"/>
          </a:xfrm>
          <a:prstGeom prst="ellipse">
            <a:avLst/>
          </a:prstGeom>
          <a:solidFill>
            <a:srgbClr val="E94F4F"/>
          </a:solidFill>
          <a:ln w="12700">
            <a:solidFill>
              <a:srgbClr val="E94F4F"/>
            </a:solidFill>
            <a:prstDash val="solid"/>
          </a:ln>
        </p:spPr>
      </p:sp>
      <p:sp>
        <p:nvSpPr>
          <p:cNvPr id="17" name="Text 15"/>
          <p:cNvSpPr/>
          <p:nvPr/>
        </p:nvSpPr>
        <p:spPr>
          <a:xfrm>
            <a:off x="932688" y="4069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554480" y="4105656"/>
            <a:ext cx="4114800" cy="365760"/>
          </a:xfrm>
          <a:prstGeom prst="rect">
            <a:avLst/>
          </a:prstGeom>
          <a:noFill/>
          <a:ln/>
        </p:spPr>
        <p:txBody>
          <a:bodyPr wrap="square" lIns="0" tIns="0" rIns="0" bIns="0" rtlCol="0" anchor="ctr"/>
          <a:lstStyle/>
          <a:p>
            <a:pPr indent="0" marL="0">
              <a:buNone/>
            </a:pPr>
            <a:r>
              <a:rPr lang="en-US" sz="1550" b="1" dirty="0">
                <a:solidFill>
                  <a:srgbClr val="14202E"/>
                </a:solidFill>
                <a:latin typeface="Calibri" pitchFamily="34" charset="0"/>
                <a:ea typeface="Calibri" pitchFamily="34" charset="-122"/>
                <a:cs typeface="Calibri" pitchFamily="34" charset="-120"/>
              </a:rPr>
              <a:t>Compilar en Debug</a:t>
            </a:r>
            <a:endParaRPr lang="en-US" sz="1550" dirty="0"/>
          </a:p>
        </p:txBody>
      </p:sp>
      <p:sp>
        <p:nvSpPr>
          <p:cNvPr id="19" name="Text 17"/>
          <p:cNvSpPr/>
          <p:nvPr/>
        </p:nvSpPr>
        <p:spPr>
          <a:xfrm>
            <a:off x="950976" y="4581144"/>
            <a:ext cx="4663440" cy="777240"/>
          </a:xfrm>
          <a:prstGeom prst="rect">
            <a:avLst/>
          </a:prstGeom>
          <a:noFill/>
          <a:ln/>
        </p:spPr>
        <p:txBody>
          <a:bodyPr wrap="square" lIns="0" tIns="0" rIns="0" bIns="0" rtlCol="0" anchor="ctr"/>
          <a:lstStyle/>
          <a:p>
            <a:pPr indent="0" marL="0">
              <a:lnSpc>
                <a:spcPts val="1700"/>
              </a:lnSpc>
              <a:buNone/>
            </a:pPr>
            <a:r>
              <a:rPr lang="en-US" sz="1250" dirty="0">
                <a:solidFill>
                  <a:srgbClr val="5A6B7D"/>
                </a:solidFill>
                <a:latin typeface="Calibri" pitchFamily="34" charset="0"/>
                <a:ea typeface="Calibri" pitchFamily="34" charset="-122"/>
                <a:cs typeface="Calibri" pitchFamily="34" charset="-120"/>
              </a:rPr>
              <a:t>Correr sin -c Release desactiva optimizaciones del JIT: los tiempos no representan el rendimiento real.</a:t>
            </a:r>
            <a:endParaRPr lang="en-US" sz="1250" dirty="0"/>
          </a:p>
        </p:txBody>
      </p:sp>
      <p:sp>
        <p:nvSpPr>
          <p:cNvPr id="20" name="Shape 18"/>
          <p:cNvSpPr/>
          <p:nvPr/>
        </p:nvSpPr>
        <p:spPr>
          <a:xfrm>
            <a:off x="6263640" y="3794760"/>
            <a:ext cx="5257800" cy="1783080"/>
          </a:xfrm>
          <a:prstGeom prst="roundRect">
            <a:avLst>
              <a:gd name="adj" fmla="val 4103"/>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21" name="Shape 19"/>
          <p:cNvSpPr/>
          <p:nvPr/>
        </p:nvSpPr>
        <p:spPr>
          <a:xfrm>
            <a:off x="6556248" y="4069080"/>
            <a:ext cx="457200" cy="457200"/>
          </a:xfrm>
          <a:prstGeom prst="ellipse">
            <a:avLst/>
          </a:prstGeom>
          <a:solidFill>
            <a:srgbClr val="E94F4F"/>
          </a:solidFill>
          <a:ln w="12700">
            <a:solidFill>
              <a:srgbClr val="E94F4F"/>
            </a:solidFill>
            <a:prstDash val="solid"/>
          </a:ln>
        </p:spPr>
      </p:sp>
      <p:sp>
        <p:nvSpPr>
          <p:cNvPr id="22" name="Text 20"/>
          <p:cNvSpPr/>
          <p:nvPr/>
        </p:nvSpPr>
        <p:spPr>
          <a:xfrm>
            <a:off x="6556248" y="4069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7178040" y="4105656"/>
            <a:ext cx="4114800" cy="365760"/>
          </a:xfrm>
          <a:prstGeom prst="rect">
            <a:avLst/>
          </a:prstGeom>
          <a:noFill/>
          <a:ln/>
        </p:spPr>
        <p:txBody>
          <a:bodyPr wrap="square" lIns="0" tIns="0" rIns="0" bIns="0" rtlCol="0" anchor="ctr"/>
          <a:lstStyle/>
          <a:p>
            <a:pPr indent="0" marL="0">
              <a:buNone/>
            </a:pPr>
            <a:r>
              <a:rPr lang="en-US" sz="1550" b="1" dirty="0">
                <a:solidFill>
                  <a:srgbClr val="14202E"/>
                </a:solidFill>
                <a:latin typeface="Calibri" pitchFamily="34" charset="0"/>
                <a:ea typeface="Calibri" pitchFamily="34" charset="-122"/>
                <a:cs typeface="Calibri" pitchFamily="34" charset="-120"/>
              </a:rPr>
              <a:t>Calentamiento desigual</a:t>
            </a:r>
            <a:endParaRPr lang="en-US" sz="1550" dirty="0"/>
          </a:p>
        </p:txBody>
      </p:sp>
      <p:sp>
        <p:nvSpPr>
          <p:cNvPr id="24" name="Text 22"/>
          <p:cNvSpPr/>
          <p:nvPr/>
        </p:nvSpPr>
        <p:spPr>
          <a:xfrm>
            <a:off x="6574536" y="4581144"/>
            <a:ext cx="4663440" cy="777240"/>
          </a:xfrm>
          <a:prstGeom prst="rect">
            <a:avLst/>
          </a:prstGeom>
          <a:noFill/>
          <a:ln/>
        </p:spPr>
        <p:txBody>
          <a:bodyPr wrap="square" lIns="0" tIns="0" rIns="0" bIns="0" rtlCol="0" anchor="ctr"/>
          <a:lstStyle/>
          <a:p>
            <a:pPr indent="0" marL="0">
              <a:lnSpc>
                <a:spcPts val="1700"/>
              </a:lnSpc>
              <a:buNone/>
            </a:pPr>
            <a:r>
              <a:rPr lang="en-US" sz="1250" dirty="0">
                <a:solidFill>
                  <a:srgbClr val="5A6B7D"/>
                </a:solidFill>
                <a:latin typeface="Calibri" pitchFamily="34" charset="0"/>
                <a:ea typeface="Calibri" pitchFamily="34" charset="-122"/>
                <a:cs typeface="Calibri" pitchFamily="34" charset="-120"/>
              </a:rPr>
              <a:t>Comparar una corrida completa contra otra que solo mide 8 hilos mezcla efectos del JIT con efectos del algoritmo.</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58368" y="182880"/>
            <a:ext cx="10881360" cy="274320"/>
          </a:xfrm>
          <a:prstGeom prst="rect">
            <a:avLst/>
          </a:prstGeom>
          <a:noFill/>
          <a:ln/>
        </p:spPr>
        <p:txBody>
          <a:bodyPr wrap="square" lIns="0" tIns="0" rIns="0" bIns="0" rtlCol="0" anchor="ctr"/>
          <a:lstStyle/>
          <a:p>
            <a:pPr indent="0" marL="0">
              <a:buNone/>
            </a:pPr>
            <a:r>
              <a:rPr lang="en-US" sz="1200" b="1" spc="200" kern="0" dirty="0">
                <a:solidFill>
                  <a:srgbClr val="E94F4F"/>
                </a:solidFill>
                <a:latin typeface="Calibri" pitchFamily="34" charset="0"/>
                <a:ea typeface="Calibri" pitchFamily="34" charset="-122"/>
                <a:cs typeface="Calibri" pitchFamily="34" charset="-120"/>
              </a:rPr>
              <a:t>EL ERROR MÁS GRANDE</a:t>
            </a:r>
            <a:endParaRPr lang="en-US" sz="1200" dirty="0"/>
          </a:p>
        </p:txBody>
      </p:sp>
      <p:sp>
        <p:nvSpPr>
          <p:cNvPr id="3" name="Text 1"/>
          <p:cNvSpPr/>
          <p:nvPr/>
        </p:nvSpPr>
        <p:spPr>
          <a:xfrm>
            <a:off x="640080" y="411480"/>
            <a:ext cx="10972800" cy="685800"/>
          </a:xfrm>
          <a:prstGeom prst="rect">
            <a:avLst/>
          </a:prstGeom>
          <a:noFill/>
          <a:ln/>
        </p:spPr>
        <p:txBody>
          <a:bodyPr wrap="square" lIns="0" tIns="0" rIns="0" bIns="0" rtlCol="0" anchor="ctr"/>
          <a:lstStyle/>
          <a:p>
            <a:pPr algn="l" indent="0" marL="0">
              <a:buNone/>
            </a:pPr>
            <a:r>
              <a:rPr lang="en-US" sz="3800" b="1" dirty="0">
                <a:solidFill>
                  <a:srgbClr val="14202E"/>
                </a:solidFill>
                <a:latin typeface="Cambria" pitchFamily="34" charset="0"/>
                <a:ea typeface="Cambria" pitchFamily="34" charset="-122"/>
                <a:cs typeface="Cambria" pitchFamily="34" charset="-120"/>
              </a:rPr>
              <a:t>Nuestras propias mediciones estaban mal</a:t>
            </a:r>
            <a:endParaRPr lang="en-US" sz="3800" dirty="0"/>
          </a:p>
        </p:txBody>
      </p:sp>
      <p:sp>
        <p:nvSpPr>
          <p:cNvPr id="4" name="Text 2"/>
          <p:cNvSpPr/>
          <p:nvPr/>
        </p:nvSpPr>
        <p:spPr>
          <a:xfrm>
            <a:off x="658368" y="1170432"/>
            <a:ext cx="6949440" cy="822960"/>
          </a:xfrm>
          <a:prstGeom prst="rect">
            <a:avLst/>
          </a:prstGeom>
          <a:noFill/>
          <a:ln/>
        </p:spPr>
        <p:txBody>
          <a:bodyPr wrap="square" lIns="0" tIns="0" rIns="0" bIns="0" rtlCol="0" anchor="ctr"/>
          <a:lstStyle/>
          <a:p>
            <a:pPr indent="0" marL="0">
              <a:lnSpc>
                <a:spcPts val="2000"/>
              </a:lnSpc>
              <a:buNone/>
            </a:pPr>
            <a:r>
              <a:rPr lang="en-US" sz="1400" dirty="0">
                <a:solidFill>
                  <a:srgbClr val="5A6B7D"/>
                </a:solidFill>
                <a:latin typeface="Calibri" pitchFamily="34" charset="0"/>
                <a:ea typeface="Calibri" pitchFamily="34" charset="-122"/>
                <a:cs typeface="Calibri" pitchFamily="34" charset="-120"/>
              </a:rPr>
              <a:t>La tabla reportaba eficiencias imposibles: 187 % con 2 hilos y 172 % con un solo hilo. Ninguna estrategia puede superar el 100 % con 1 hilo — hace el mismo trabajo que la secuencial más el overhead de particionar.</a:t>
            </a:r>
            <a:endParaRPr lang="en-US" sz="1400" dirty="0"/>
          </a:p>
        </p:txBody>
      </p:sp>
      <p:sp>
        <p:nvSpPr>
          <p:cNvPr id="5" name="Text 3"/>
          <p:cNvSpPr/>
          <p:nvPr/>
        </p:nvSpPr>
        <p:spPr>
          <a:xfrm>
            <a:off x="658368" y="2103120"/>
            <a:ext cx="6949440" cy="274320"/>
          </a:xfrm>
          <a:prstGeom prst="rect">
            <a:avLst/>
          </a:prstGeom>
          <a:noFill/>
          <a:ln/>
        </p:spPr>
        <p:txBody>
          <a:bodyPr wrap="square" lIns="0" tIns="0" rIns="0" bIns="0" rtlCol="0" anchor="ctr"/>
          <a:lstStyle/>
          <a:p>
            <a:pPr indent="0" marL="0">
              <a:buNone/>
            </a:pPr>
            <a:r>
              <a:rPr lang="en-US" sz="1300" b="1" dirty="0">
                <a:solidFill>
                  <a:srgbClr val="14202E"/>
                </a:solidFill>
                <a:latin typeface="Calibri" pitchFamily="34" charset="0"/>
                <a:ea typeface="Calibri" pitchFamily="34" charset="-122"/>
                <a:cs typeface="Calibri" pitchFamily="34" charset="-120"/>
              </a:rPr>
              <a:t>El mismo código, sobre el mismo dato, 10 veces seguidas:</a:t>
            </a:r>
            <a:endParaRPr lang="en-US" sz="1300" dirty="0"/>
          </a:p>
        </p:txBody>
      </p:sp>
      <p:sp>
        <p:nvSpPr>
          <p:cNvPr id="6" name="Shape 4"/>
          <p:cNvSpPr/>
          <p:nvPr/>
        </p:nvSpPr>
        <p:spPr>
          <a:xfrm>
            <a:off x="640080" y="2450592"/>
            <a:ext cx="7040880" cy="2286000"/>
          </a:xfrm>
          <a:prstGeom prst="roundRect">
            <a:avLst>
              <a:gd name="adj" fmla="val 3200"/>
            </a:avLst>
          </a:prstGeom>
          <a:solidFill>
            <a:srgbClr val="0B141F"/>
          </a:solidFill>
          <a:ln w="12700">
            <a:solidFill>
              <a:srgbClr val="0B141F"/>
            </a:solidFill>
            <a:prstDash val="solid"/>
          </a:ln>
          <a:effectLst>
            <a:outerShdw sx="100000" sy="100000" kx="0" ky="0" algn="bl" rotWithShape="0" blurRad="127000" dist="25400" dir="5400000">
              <a:srgbClr val="9AA9B8">
                <a:alpha val="22000"/>
              </a:srgbClr>
            </a:outerShdw>
          </a:effectLst>
        </p:spPr>
      </p:sp>
      <p:sp>
        <p:nvSpPr>
          <p:cNvPr id="7" name="Text 5"/>
          <p:cNvSpPr/>
          <p:nvPr/>
        </p:nvSpPr>
        <p:spPr>
          <a:xfrm>
            <a:off x="914400" y="2651760"/>
            <a:ext cx="457200" cy="274320"/>
          </a:xfrm>
          <a:prstGeom prst="rect">
            <a:avLst/>
          </a:prstGeom>
          <a:noFill/>
          <a:ln/>
        </p:spPr>
        <p:txBody>
          <a:bodyPr wrap="square" lIns="0" tIns="0" rIns="0" bIns="0" rtlCol="0" anchor="ctr"/>
          <a:lstStyle/>
          <a:p>
            <a:pPr indent="0" marL="0">
              <a:buNone/>
            </a:pPr>
            <a:r>
              <a:rPr lang="en-US" sz="1300" b="1" dirty="0">
                <a:solidFill>
                  <a:srgbClr val="E94F4F"/>
                </a:solidFill>
                <a:latin typeface="Courier New" pitchFamily="34" charset="0"/>
                <a:ea typeface="Courier New" pitchFamily="34" charset="-122"/>
                <a:cs typeface="Courier New" pitchFamily="34" charset="-120"/>
              </a:rPr>
              <a:t>#1</a:t>
            </a:r>
            <a:endParaRPr lang="en-US" sz="1300" dirty="0"/>
          </a:p>
        </p:txBody>
      </p:sp>
      <p:sp>
        <p:nvSpPr>
          <p:cNvPr id="8" name="Text 6"/>
          <p:cNvSpPr/>
          <p:nvPr/>
        </p:nvSpPr>
        <p:spPr>
          <a:xfrm>
            <a:off x="1417320" y="2651760"/>
            <a:ext cx="1188720" cy="274320"/>
          </a:xfrm>
          <a:prstGeom prst="rect">
            <a:avLst/>
          </a:prstGeom>
          <a:noFill/>
          <a:ln/>
        </p:spPr>
        <p:txBody>
          <a:bodyPr wrap="square" lIns="0" tIns="0" rIns="0" bIns="0" rtlCol="0" anchor="ctr"/>
          <a:lstStyle/>
          <a:p>
            <a:pPr indent="0" marL="0">
              <a:buNone/>
            </a:pPr>
            <a:r>
              <a:rPr lang="en-US" sz="1300" b="1" dirty="0">
                <a:solidFill>
                  <a:srgbClr val="E94F4F"/>
                </a:solidFill>
                <a:latin typeface="Courier New" pitchFamily="34" charset="0"/>
                <a:ea typeface="Courier New" pitchFamily="34" charset="-122"/>
                <a:cs typeface="Courier New" pitchFamily="34" charset="-120"/>
              </a:rPr>
              <a:t>0.1622 s</a:t>
            </a:r>
            <a:endParaRPr lang="en-US" sz="1300" dirty="0"/>
          </a:p>
        </p:txBody>
      </p:sp>
      <p:sp>
        <p:nvSpPr>
          <p:cNvPr id="9" name="Text 7"/>
          <p:cNvSpPr/>
          <p:nvPr/>
        </p:nvSpPr>
        <p:spPr>
          <a:xfrm>
            <a:off x="2743200" y="2651760"/>
            <a:ext cx="3931920" cy="274320"/>
          </a:xfrm>
          <a:prstGeom prst="rect">
            <a:avLst/>
          </a:prstGeom>
          <a:noFill/>
          <a:ln/>
        </p:spPr>
        <p:txBody>
          <a:bodyPr wrap="square" lIns="0" tIns="0" rIns="0" bIns="0" rtlCol="0" anchor="ctr"/>
          <a:lstStyle/>
          <a:p>
            <a:pPr indent="0" marL="0">
              <a:buNone/>
            </a:pPr>
            <a:r>
              <a:rPr lang="en-US" sz="1200" b="1" dirty="0">
                <a:solidFill>
                  <a:srgbClr val="E94F4F"/>
                </a:solidFill>
                <a:latin typeface="Calibri" pitchFamily="34" charset="0"/>
                <a:ea typeface="Calibri" pitchFamily="34" charset="-122"/>
                <a:cs typeface="Calibri" pitchFamily="34" charset="-120"/>
              </a:rPr>
              <a:t>← la única que medía el programa</a:t>
            </a:r>
            <a:endParaRPr lang="en-US" sz="1200" dirty="0"/>
          </a:p>
        </p:txBody>
      </p:sp>
      <p:sp>
        <p:nvSpPr>
          <p:cNvPr id="10" name="Text 8"/>
          <p:cNvSpPr/>
          <p:nvPr/>
        </p:nvSpPr>
        <p:spPr>
          <a:xfrm>
            <a:off x="914400" y="3054096"/>
            <a:ext cx="457200" cy="274320"/>
          </a:xfrm>
          <a:prstGeom prst="rect">
            <a:avLst/>
          </a:prstGeom>
          <a:noFill/>
          <a:ln/>
        </p:spPr>
        <p:txBody>
          <a:bodyPr wrap="square" lIns="0" tIns="0" rIns="0" bIns="0" rtlCol="0" anchor="ctr"/>
          <a:lstStyle/>
          <a:p>
            <a:pPr indent="0" marL="0">
              <a:buNone/>
            </a:pPr>
            <a:r>
              <a:rPr lang="en-US" sz="1300" dirty="0">
                <a:solidFill>
                  <a:srgbClr val="9BB0C4"/>
                </a:solidFill>
                <a:latin typeface="Courier New" pitchFamily="34" charset="0"/>
                <a:ea typeface="Courier New" pitchFamily="34" charset="-122"/>
                <a:cs typeface="Courier New" pitchFamily="34" charset="-120"/>
              </a:rPr>
              <a:t>#2</a:t>
            </a:r>
            <a:endParaRPr lang="en-US" sz="1300" dirty="0"/>
          </a:p>
        </p:txBody>
      </p:sp>
      <p:sp>
        <p:nvSpPr>
          <p:cNvPr id="11" name="Text 9"/>
          <p:cNvSpPr/>
          <p:nvPr/>
        </p:nvSpPr>
        <p:spPr>
          <a:xfrm>
            <a:off x="1417320" y="3054096"/>
            <a:ext cx="1188720" cy="274320"/>
          </a:xfrm>
          <a:prstGeom prst="rect">
            <a:avLst/>
          </a:prstGeom>
          <a:noFill/>
          <a:ln/>
        </p:spPr>
        <p:txBody>
          <a:bodyPr wrap="square" lIns="0" tIns="0" rIns="0" bIns="0" rtlCol="0" anchor="ctr"/>
          <a:lstStyle/>
          <a:p>
            <a:pPr indent="0" marL="0">
              <a:buNone/>
            </a:pPr>
            <a:r>
              <a:rPr lang="en-US" sz="1300" dirty="0">
                <a:solidFill>
                  <a:srgbClr val="02C39A"/>
                </a:solidFill>
                <a:latin typeface="Courier New" pitchFamily="34" charset="0"/>
                <a:ea typeface="Courier New" pitchFamily="34" charset="-122"/>
                <a:cs typeface="Courier New" pitchFamily="34" charset="-120"/>
              </a:rPr>
              <a:t>0.1082 s</a:t>
            </a:r>
            <a:endParaRPr lang="en-US" sz="1300" dirty="0"/>
          </a:p>
        </p:txBody>
      </p:sp>
      <p:sp>
        <p:nvSpPr>
          <p:cNvPr id="12" name="Text 10"/>
          <p:cNvSpPr/>
          <p:nvPr/>
        </p:nvSpPr>
        <p:spPr>
          <a:xfrm>
            <a:off x="914400" y="3456432"/>
            <a:ext cx="457200" cy="274320"/>
          </a:xfrm>
          <a:prstGeom prst="rect">
            <a:avLst/>
          </a:prstGeom>
          <a:noFill/>
          <a:ln/>
        </p:spPr>
        <p:txBody>
          <a:bodyPr wrap="square" lIns="0" tIns="0" rIns="0" bIns="0" rtlCol="0" anchor="ctr"/>
          <a:lstStyle/>
          <a:p>
            <a:pPr indent="0" marL="0">
              <a:buNone/>
            </a:pPr>
            <a:r>
              <a:rPr lang="en-US" sz="1300" dirty="0">
                <a:solidFill>
                  <a:srgbClr val="9BB0C4"/>
                </a:solidFill>
                <a:latin typeface="Courier New" pitchFamily="34" charset="0"/>
                <a:ea typeface="Courier New" pitchFamily="34" charset="-122"/>
                <a:cs typeface="Courier New" pitchFamily="34" charset="-120"/>
              </a:rPr>
              <a:t>#3</a:t>
            </a:r>
            <a:endParaRPr lang="en-US" sz="1300" dirty="0"/>
          </a:p>
        </p:txBody>
      </p:sp>
      <p:sp>
        <p:nvSpPr>
          <p:cNvPr id="13" name="Text 11"/>
          <p:cNvSpPr/>
          <p:nvPr/>
        </p:nvSpPr>
        <p:spPr>
          <a:xfrm>
            <a:off x="1417320" y="3456432"/>
            <a:ext cx="1188720" cy="274320"/>
          </a:xfrm>
          <a:prstGeom prst="rect">
            <a:avLst/>
          </a:prstGeom>
          <a:noFill/>
          <a:ln/>
        </p:spPr>
        <p:txBody>
          <a:bodyPr wrap="square" lIns="0" tIns="0" rIns="0" bIns="0" rtlCol="0" anchor="ctr"/>
          <a:lstStyle/>
          <a:p>
            <a:pPr indent="0" marL="0">
              <a:buNone/>
            </a:pPr>
            <a:r>
              <a:rPr lang="en-US" sz="1300" dirty="0">
                <a:solidFill>
                  <a:srgbClr val="02C39A"/>
                </a:solidFill>
                <a:latin typeface="Courier New" pitchFamily="34" charset="0"/>
                <a:ea typeface="Courier New" pitchFamily="34" charset="-122"/>
                <a:cs typeface="Courier New" pitchFamily="34" charset="-120"/>
              </a:rPr>
              <a:t>0.1133 s</a:t>
            </a:r>
            <a:endParaRPr lang="en-US" sz="1300" dirty="0"/>
          </a:p>
        </p:txBody>
      </p:sp>
      <p:sp>
        <p:nvSpPr>
          <p:cNvPr id="14" name="Text 12"/>
          <p:cNvSpPr/>
          <p:nvPr/>
        </p:nvSpPr>
        <p:spPr>
          <a:xfrm>
            <a:off x="914400" y="3858768"/>
            <a:ext cx="457200" cy="274320"/>
          </a:xfrm>
          <a:prstGeom prst="rect">
            <a:avLst/>
          </a:prstGeom>
          <a:noFill/>
          <a:ln/>
        </p:spPr>
        <p:txBody>
          <a:bodyPr wrap="square" lIns="0" tIns="0" rIns="0" bIns="0" rtlCol="0" anchor="ctr"/>
          <a:lstStyle/>
          <a:p>
            <a:pPr indent="0" marL="0">
              <a:buNone/>
            </a:pPr>
            <a:r>
              <a:rPr lang="en-US" sz="1300" dirty="0">
                <a:solidFill>
                  <a:srgbClr val="9BB0C4"/>
                </a:solidFill>
                <a:latin typeface="Courier New" pitchFamily="34" charset="0"/>
                <a:ea typeface="Courier New" pitchFamily="34" charset="-122"/>
                <a:cs typeface="Courier New" pitchFamily="34" charset="-120"/>
              </a:rPr>
              <a:t>#4</a:t>
            </a:r>
            <a:endParaRPr lang="en-US" sz="1300" dirty="0"/>
          </a:p>
        </p:txBody>
      </p:sp>
      <p:sp>
        <p:nvSpPr>
          <p:cNvPr id="15" name="Text 13"/>
          <p:cNvSpPr/>
          <p:nvPr/>
        </p:nvSpPr>
        <p:spPr>
          <a:xfrm>
            <a:off x="1417320" y="3858768"/>
            <a:ext cx="1188720" cy="274320"/>
          </a:xfrm>
          <a:prstGeom prst="rect">
            <a:avLst/>
          </a:prstGeom>
          <a:noFill/>
          <a:ln/>
        </p:spPr>
        <p:txBody>
          <a:bodyPr wrap="square" lIns="0" tIns="0" rIns="0" bIns="0" rtlCol="0" anchor="ctr"/>
          <a:lstStyle/>
          <a:p>
            <a:pPr indent="0" marL="0">
              <a:buNone/>
            </a:pPr>
            <a:r>
              <a:rPr lang="en-US" sz="1300" dirty="0">
                <a:solidFill>
                  <a:srgbClr val="02C39A"/>
                </a:solidFill>
                <a:latin typeface="Courier New" pitchFamily="34" charset="0"/>
                <a:ea typeface="Courier New" pitchFamily="34" charset="-122"/>
                <a:cs typeface="Courier New" pitchFamily="34" charset="-120"/>
              </a:rPr>
              <a:t>0.1135 s</a:t>
            </a:r>
            <a:endParaRPr lang="en-US" sz="1300" dirty="0"/>
          </a:p>
        </p:txBody>
      </p:sp>
      <p:sp>
        <p:nvSpPr>
          <p:cNvPr id="16" name="Text 14"/>
          <p:cNvSpPr/>
          <p:nvPr/>
        </p:nvSpPr>
        <p:spPr>
          <a:xfrm>
            <a:off x="914400" y="4261104"/>
            <a:ext cx="457200" cy="274320"/>
          </a:xfrm>
          <a:prstGeom prst="rect">
            <a:avLst/>
          </a:prstGeom>
          <a:noFill/>
          <a:ln/>
        </p:spPr>
        <p:txBody>
          <a:bodyPr wrap="square" lIns="0" tIns="0" rIns="0" bIns="0" rtlCol="0" anchor="ctr"/>
          <a:lstStyle/>
          <a:p>
            <a:pPr indent="0" marL="0">
              <a:buNone/>
            </a:pPr>
            <a:r>
              <a:rPr lang="en-US" sz="1300" dirty="0">
                <a:solidFill>
                  <a:srgbClr val="9BB0C4"/>
                </a:solidFill>
                <a:latin typeface="Courier New" pitchFamily="34" charset="0"/>
                <a:ea typeface="Courier New" pitchFamily="34" charset="-122"/>
                <a:cs typeface="Courier New" pitchFamily="34" charset="-120"/>
              </a:rPr>
              <a:t>#5</a:t>
            </a:r>
            <a:endParaRPr lang="en-US" sz="1300" dirty="0"/>
          </a:p>
        </p:txBody>
      </p:sp>
      <p:sp>
        <p:nvSpPr>
          <p:cNvPr id="17" name="Text 15"/>
          <p:cNvSpPr/>
          <p:nvPr/>
        </p:nvSpPr>
        <p:spPr>
          <a:xfrm>
            <a:off x="1417320" y="4261104"/>
            <a:ext cx="1188720" cy="274320"/>
          </a:xfrm>
          <a:prstGeom prst="rect">
            <a:avLst/>
          </a:prstGeom>
          <a:noFill/>
          <a:ln/>
        </p:spPr>
        <p:txBody>
          <a:bodyPr wrap="square" lIns="0" tIns="0" rIns="0" bIns="0" rtlCol="0" anchor="ctr"/>
          <a:lstStyle/>
          <a:p>
            <a:pPr indent="0" marL="0">
              <a:buNone/>
            </a:pPr>
            <a:r>
              <a:rPr lang="en-US" sz="1300" dirty="0">
                <a:solidFill>
                  <a:srgbClr val="02C39A"/>
                </a:solidFill>
                <a:latin typeface="Courier New" pitchFamily="34" charset="0"/>
                <a:ea typeface="Courier New" pitchFamily="34" charset="-122"/>
                <a:cs typeface="Courier New" pitchFamily="34" charset="-120"/>
              </a:rPr>
              <a:t>0.1090 s</a:t>
            </a:r>
            <a:endParaRPr lang="en-US" sz="1300" dirty="0"/>
          </a:p>
        </p:txBody>
      </p:sp>
      <p:sp>
        <p:nvSpPr>
          <p:cNvPr id="18" name="Text 16"/>
          <p:cNvSpPr/>
          <p:nvPr/>
        </p:nvSpPr>
        <p:spPr>
          <a:xfrm>
            <a:off x="658368" y="4892040"/>
            <a:ext cx="7040880" cy="731520"/>
          </a:xfrm>
          <a:prstGeom prst="rect">
            <a:avLst/>
          </a:prstGeom>
          <a:noFill/>
          <a:ln/>
        </p:spPr>
        <p:txBody>
          <a:bodyPr wrap="square" lIns="0" tIns="0" rIns="0" bIns="0" rtlCol="0" anchor="ctr"/>
          <a:lstStyle/>
          <a:p>
            <a:pPr indent="0" marL="0">
              <a:lnSpc>
                <a:spcPts val="1800"/>
              </a:lnSpc>
              <a:buNone/>
            </a:pPr>
            <a:r>
              <a:rPr lang="en-US" sz="1300" dirty="0">
                <a:solidFill>
                  <a:srgbClr val="5A6B7D"/>
                </a:solidFill>
                <a:latin typeface="Calibri" pitchFamily="34" charset="0"/>
                <a:ea typeface="Calibri" pitchFamily="34" charset="-122"/>
                <a:cs typeface="Calibri" pitchFamily="34" charset="-120"/>
              </a:rPr>
              <a:t>La primera ejecución es 50 % más lenta: .NET compila por niveles y aún no había optimizado el código. Como era el baseline, inflaba el speedup de todo lo demás.</a:t>
            </a:r>
            <a:endParaRPr lang="en-US" sz="1300" dirty="0"/>
          </a:p>
        </p:txBody>
      </p:sp>
      <p:sp>
        <p:nvSpPr>
          <p:cNvPr id="19" name="Shape 17"/>
          <p:cNvSpPr/>
          <p:nvPr/>
        </p:nvSpPr>
        <p:spPr>
          <a:xfrm>
            <a:off x="8001000" y="1170432"/>
            <a:ext cx="3547872" cy="4480560"/>
          </a:xfrm>
          <a:prstGeom prst="roundRect">
            <a:avLst>
              <a:gd name="adj" fmla="val 2062"/>
            </a:avLst>
          </a:prstGeom>
          <a:solidFill>
            <a:srgbClr val="14202E"/>
          </a:solidFill>
          <a:ln w="12700">
            <a:solidFill>
              <a:srgbClr val="14202E"/>
            </a:solidFill>
            <a:prstDash val="solid"/>
          </a:ln>
          <a:effectLst>
            <a:outerShdw sx="100000" sy="100000" kx="0" ky="0" algn="bl" rotWithShape="0" blurRad="127000" dist="25400" dir="5400000">
              <a:srgbClr val="9AA9B8">
                <a:alpha val="22000"/>
              </a:srgbClr>
            </a:outerShdw>
          </a:effectLst>
        </p:spPr>
      </p:sp>
      <p:sp>
        <p:nvSpPr>
          <p:cNvPr id="20" name="Text 18"/>
          <p:cNvSpPr/>
          <p:nvPr/>
        </p:nvSpPr>
        <p:spPr>
          <a:xfrm>
            <a:off x="8321040" y="1481328"/>
            <a:ext cx="2926080" cy="274320"/>
          </a:xfrm>
          <a:prstGeom prst="rect">
            <a:avLst/>
          </a:prstGeom>
          <a:noFill/>
          <a:ln/>
        </p:spPr>
        <p:txBody>
          <a:bodyPr wrap="square" lIns="0" tIns="0" rIns="0" bIns="0" rtlCol="0" anchor="ctr"/>
          <a:lstStyle/>
          <a:p>
            <a:pPr indent="0" marL="0">
              <a:buNone/>
            </a:pPr>
            <a:r>
              <a:rPr lang="en-US" sz="1100" b="1" spc="150" kern="0" dirty="0">
                <a:solidFill>
                  <a:srgbClr val="02C39A"/>
                </a:solidFill>
                <a:latin typeface="Calibri" pitchFamily="34" charset="0"/>
                <a:ea typeface="Calibri" pitchFamily="34" charset="-122"/>
                <a:cs typeface="Calibri" pitchFamily="34" charset="-120"/>
              </a:rPr>
              <a:t>AL CORREGIRLO</a:t>
            </a:r>
            <a:endParaRPr lang="en-US" sz="1100" dirty="0"/>
          </a:p>
        </p:txBody>
      </p:sp>
      <p:sp>
        <p:nvSpPr>
          <p:cNvPr id="21" name="Text 19"/>
          <p:cNvSpPr/>
          <p:nvPr/>
        </p:nvSpPr>
        <p:spPr>
          <a:xfrm>
            <a:off x="8321040" y="1874520"/>
            <a:ext cx="29260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Eficiencia con 1 hilo</a:t>
            </a:r>
            <a:endParaRPr lang="en-US" sz="1300" dirty="0"/>
          </a:p>
        </p:txBody>
      </p:sp>
      <p:sp>
        <p:nvSpPr>
          <p:cNvPr id="22" name="Text 20"/>
          <p:cNvSpPr/>
          <p:nvPr/>
        </p:nvSpPr>
        <p:spPr>
          <a:xfrm>
            <a:off x="8321040" y="2212848"/>
            <a:ext cx="2926080" cy="548640"/>
          </a:xfrm>
          <a:prstGeom prst="rect">
            <a:avLst/>
          </a:prstGeom>
          <a:noFill/>
          <a:ln/>
        </p:spPr>
        <p:txBody>
          <a:bodyPr wrap="square" lIns="0" tIns="0" rIns="0" bIns="0" rtlCol="0" anchor="ctr"/>
          <a:lstStyle/>
          <a:p>
            <a:pPr indent="0" marL="0">
              <a:buNone/>
            </a:pPr>
            <a:r>
              <a:rPr lang="en-US" sz="3000" b="1" dirty="0">
                <a:solidFill>
                  <a:srgbClr val="E94F4F"/>
                </a:solidFill>
                <a:latin typeface="Cambria" pitchFamily="34" charset="0"/>
                <a:ea typeface="Cambria" pitchFamily="34" charset="-122"/>
                <a:cs typeface="Cambria" pitchFamily="34" charset="-120"/>
              </a:rPr>
              <a:t>172 %</a:t>
            </a:r>
            <a:endParaRPr lang="en-US" sz="3000" dirty="0"/>
          </a:p>
        </p:txBody>
      </p:sp>
      <p:sp>
        <p:nvSpPr>
          <p:cNvPr id="23" name="Text 21"/>
          <p:cNvSpPr/>
          <p:nvPr/>
        </p:nvSpPr>
        <p:spPr>
          <a:xfrm>
            <a:off x="8321040" y="2743200"/>
            <a:ext cx="2926080" cy="256032"/>
          </a:xfrm>
          <a:prstGeom prst="rect">
            <a:avLst/>
          </a:prstGeom>
          <a:noFill/>
          <a:ln/>
        </p:spPr>
        <p:txBody>
          <a:bodyPr wrap="square" lIns="0" tIns="0" rIns="0" bIns="0" rtlCol="0" anchor="ctr"/>
          <a:lstStyle/>
          <a:p>
            <a:pPr indent="0" marL="0">
              <a:buNone/>
            </a:pPr>
            <a:r>
              <a:rPr lang="en-US" sz="1100" dirty="0">
                <a:solidFill>
                  <a:srgbClr val="9BB0C4"/>
                </a:solidFill>
                <a:latin typeface="Calibri" pitchFamily="34" charset="0"/>
                <a:ea typeface="Calibri" pitchFamily="34" charset="-122"/>
                <a:cs typeface="Calibri" pitchFamily="34" charset="-120"/>
              </a:rPr>
              <a:t>antes  ·  imposible</a:t>
            </a:r>
            <a:endParaRPr lang="en-US" sz="1100" dirty="0"/>
          </a:p>
        </p:txBody>
      </p:sp>
      <p:sp>
        <p:nvSpPr>
          <p:cNvPr id="24" name="Text 22"/>
          <p:cNvSpPr/>
          <p:nvPr/>
        </p:nvSpPr>
        <p:spPr>
          <a:xfrm>
            <a:off x="8321040" y="3127248"/>
            <a:ext cx="2926080" cy="548640"/>
          </a:xfrm>
          <a:prstGeom prst="rect">
            <a:avLst/>
          </a:prstGeom>
          <a:noFill/>
          <a:ln/>
        </p:spPr>
        <p:txBody>
          <a:bodyPr wrap="square" lIns="0" tIns="0" rIns="0" bIns="0" rtlCol="0" anchor="ctr"/>
          <a:lstStyle/>
          <a:p>
            <a:pPr indent="0" marL="0">
              <a:buNone/>
            </a:pPr>
            <a:r>
              <a:rPr lang="en-US" sz="3000" b="1" dirty="0">
                <a:solidFill>
                  <a:srgbClr val="02C39A"/>
                </a:solidFill>
                <a:latin typeface="Cambria" pitchFamily="34" charset="0"/>
                <a:ea typeface="Cambria" pitchFamily="34" charset="-122"/>
                <a:cs typeface="Cambria" pitchFamily="34" charset="-120"/>
              </a:rPr>
              <a:t>100 %</a:t>
            </a:r>
            <a:endParaRPr lang="en-US" sz="3000" dirty="0"/>
          </a:p>
        </p:txBody>
      </p:sp>
      <p:sp>
        <p:nvSpPr>
          <p:cNvPr id="25" name="Text 23"/>
          <p:cNvSpPr/>
          <p:nvPr/>
        </p:nvSpPr>
        <p:spPr>
          <a:xfrm>
            <a:off x="8321040" y="3657600"/>
            <a:ext cx="2926080" cy="256032"/>
          </a:xfrm>
          <a:prstGeom prst="rect">
            <a:avLst/>
          </a:prstGeom>
          <a:noFill/>
          <a:ln/>
        </p:spPr>
        <p:txBody>
          <a:bodyPr wrap="square" lIns="0" tIns="0" rIns="0" bIns="0" rtlCol="0" anchor="ctr"/>
          <a:lstStyle/>
          <a:p>
            <a:pPr indent="0" marL="0">
              <a:buNone/>
            </a:pPr>
            <a:r>
              <a:rPr lang="en-US" sz="1100" dirty="0">
                <a:solidFill>
                  <a:srgbClr val="9BB0C4"/>
                </a:solidFill>
                <a:latin typeface="Calibri" pitchFamily="34" charset="0"/>
                <a:ea typeface="Calibri" pitchFamily="34" charset="-122"/>
                <a:cs typeface="Calibri" pitchFamily="34" charset="-120"/>
              </a:rPr>
              <a:t>después  ·  como predice la teoría</a:t>
            </a:r>
            <a:endParaRPr lang="en-US" sz="1100" dirty="0"/>
          </a:p>
        </p:txBody>
      </p:sp>
      <p:sp>
        <p:nvSpPr>
          <p:cNvPr id="26" name="Text 24"/>
          <p:cNvSpPr/>
          <p:nvPr/>
        </p:nvSpPr>
        <p:spPr>
          <a:xfrm>
            <a:off x="8321040" y="4160520"/>
            <a:ext cx="2926080" cy="1097280"/>
          </a:xfrm>
          <a:prstGeom prst="rect">
            <a:avLst/>
          </a:prstGeom>
          <a:noFill/>
          <a:ln/>
        </p:spPr>
        <p:txBody>
          <a:bodyPr wrap="square" lIns="0" tIns="0" rIns="0" bIns="0" rtlCol="0" anchor="ctr"/>
          <a:lstStyle/>
          <a:p>
            <a:pPr indent="0" marL="0">
              <a:lnSpc>
                <a:spcPts val="1800"/>
              </a:lnSpc>
              <a:buNone/>
            </a:pPr>
            <a:r>
              <a:rPr lang="en-US" sz="1250" dirty="0">
                <a:solidFill>
                  <a:srgbClr val="9BB0C4"/>
                </a:solidFill>
                <a:latin typeface="Calibri" pitchFamily="34" charset="0"/>
                <a:ea typeface="Calibri" pitchFamily="34" charset="-122"/>
                <a:cs typeface="Calibri" pitchFamily="34" charset="-120"/>
              </a:rPr>
              <a:t>La solución: calentar todas las estrategias antes de medir ninguna, y reportar el mejor de 3 tiempos.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58368" y="182880"/>
            <a:ext cx="10881360" cy="274320"/>
          </a:xfrm>
          <a:prstGeom prst="rect">
            <a:avLst/>
          </a:prstGeom>
          <a:noFill/>
          <a:ln/>
        </p:spPr>
        <p:txBody>
          <a:bodyPr wrap="square" lIns="0" tIns="0" rIns="0" bIns="0" rtlCol="0" anchor="ctr"/>
          <a:lstStyle/>
          <a:p>
            <a:pPr indent="0" marL="0">
              <a:buNone/>
            </a:pPr>
            <a:r>
              <a:rPr lang="en-US" sz="1200" b="1" spc="200" kern="0" dirty="0">
                <a:solidFill>
                  <a:srgbClr val="E94F4F"/>
                </a:solidFill>
                <a:latin typeface="Calibri" pitchFamily="34" charset="0"/>
                <a:ea typeface="Calibri" pitchFamily="34" charset="-122"/>
                <a:cs typeface="Calibri" pitchFamily="34" charset="-120"/>
              </a:rPr>
              <a:t>LA RETRACTACIÓN</a:t>
            </a:r>
            <a:endParaRPr lang="en-US" sz="1200" dirty="0"/>
          </a:p>
        </p:txBody>
      </p:sp>
      <p:sp>
        <p:nvSpPr>
          <p:cNvPr id="3" name="Text 1"/>
          <p:cNvSpPr/>
          <p:nvPr/>
        </p:nvSpPr>
        <p:spPr>
          <a:xfrm>
            <a:off x="640080" y="411480"/>
            <a:ext cx="10972800" cy="685800"/>
          </a:xfrm>
          <a:prstGeom prst="rect">
            <a:avLst/>
          </a:prstGeom>
          <a:noFill/>
          <a:ln/>
        </p:spPr>
        <p:txBody>
          <a:bodyPr wrap="square" lIns="0" tIns="0" rIns="0" bIns="0" rtlCol="0" anchor="ctr"/>
          <a:lstStyle/>
          <a:p>
            <a:pPr algn="l" indent="0" marL="0">
              <a:buNone/>
            </a:pPr>
            <a:r>
              <a:rPr lang="en-US" sz="3800" b="1" dirty="0">
                <a:solidFill>
                  <a:srgbClr val="14202E"/>
                </a:solidFill>
                <a:latin typeface="Cambria" pitchFamily="34" charset="0"/>
                <a:ea typeface="Cambria" pitchFamily="34" charset="-122"/>
                <a:cs typeface="Cambria" pitchFamily="34" charset="-120"/>
              </a:rPr>
              <a:t>Una conclusión que se cayó</a:t>
            </a:r>
            <a:endParaRPr lang="en-US" sz="3800" dirty="0"/>
          </a:p>
        </p:txBody>
      </p:sp>
      <p:sp>
        <p:nvSpPr>
          <p:cNvPr id="4" name="Text 2"/>
          <p:cNvSpPr/>
          <p:nvPr/>
        </p:nvSpPr>
        <p:spPr>
          <a:xfrm>
            <a:off x="658368" y="1170432"/>
            <a:ext cx="6949440" cy="685800"/>
          </a:xfrm>
          <a:prstGeom prst="rect">
            <a:avLst/>
          </a:prstGeom>
          <a:noFill/>
          <a:ln/>
        </p:spPr>
        <p:txBody>
          <a:bodyPr wrap="square" lIns="0" tIns="0" rIns="0" bIns="0" rtlCol="0" anchor="ctr"/>
          <a:lstStyle/>
          <a:p>
            <a:pPr indent="0" marL="0">
              <a:lnSpc>
                <a:spcPts val="2000"/>
              </a:lnSpc>
              <a:buNone/>
            </a:pPr>
            <a:r>
              <a:rPr lang="en-US" sz="1400" dirty="0">
                <a:solidFill>
                  <a:srgbClr val="5A6B7D"/>
                </a:solidFill>
                <a:latin typeface="Calibri" pitchFamily="34" charset="0"/>
                <a:ea typeface="Calibri" pitchFamily="34" charset="-122"/>
                <a:cs typeface="Calibri" pitchFamily="34" charset="-120"/>
              </a:rPr>
              <a:t>Habíamos concluido que activar Server GC mejoraba la eficiencia entre 6 y 32 puntos. Al repetir la comparación con el método corregido, esa mejora desapareció.</a:t>
            </a:r>
            <a:endParaRPr lang="en-US" sz="1400" dirty="0"/>
          </a:p>
        </p:txBody>
      </p:sp>
      <p:graphicFrame>
        <p:nvGraphicFramePr>
          <p:cNvPr id="5" name="Chart 0" descr=""/>
          <p:cNvGraphicFramePr/>
          <p:nvPr/>
        </p:nvGraphicFramePr>
        <p:xfrm>
          <a:off x="640080" y="1965960"/>
          <a:ext cx="7040880" cy="35661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58368" y="5577840"/>
            <a:ext cx="7040880" cy="274320"/>
          </a:xfrm>
          <a:prstGeom prst="rect">
            <a:avLst/>
          </a:prstGeom>
          <a:noFill/>
          <a:ln/>
        </p:spPr>
        <p:txBody>
          <a:bodyPr wrap="square" lIns="0" tIns="0" rIns="0" bIns="0" rtlCol="0" anchor="ctr"/>
          <a:lstStyle/>
          <a:p>
            <a:pPr indent="0" marL="0">
              <a:buNone/>
            </a:pPr>
            <a:r>
              <a:rPr lang="en-US" sz="1100" i="1" dirty="0">
                <a:solidFill>
                  <a:srgbClr val="5A6B7D"/>
                </a:solidFill>
                <a:latin typeface="Calibri" pitchFamily="34" charset="0"/>
                <a:ea typeface="Calibri" pitchFamily="34" charset="-122"/>
                <a:cs typeface="Calibri" pitchFamily="34" charset="-120"/>
              </a:rPr>
              <a:t>Eficiencia con 8 hilos · 5 M de filas · ambas configuraciones medidas una tras otra</a:t>
            </a:r>
            <a:endParaRPr lang="en-US" sz="1100" dirty="0"/>
          </a:p>
        </p:txBody>
      </p:sp>
      <p:sp>
        <p:nvSpPr>
          <p:cNvPr id="7" name="Shape 4"/>
          <p:cNvSpPr/>
          <p:nvPr/>
        </p:nvSpPr>
        <p:spPr>
          <a:xfrm>
            <a:off x="8001000" y="1965960"/>
            <a:ext cx="3547872" cy="3566160"/>
          </a:xfrm>
          <a:prstGeom prst="roundRect">
            <a:avLst>
              <a:gd name="adj" fmla="val 2062"/>
            </a:avLst>
          </a:prstGeom>
          <a:solidFill>
            <a:srgbClr val="14202E"/>
          </a:solidFill>
          <a:ln w="12700">
            <a:solidFill>
              <a:srgbClr val="14202E"/>
            </a:solidFill>
            <a:prstDash val="solid"/>
          </a:ln>
          <a:effectLst>
            <a:outerShdw sx="100000" sy="100000" kx="0" ky="0" algn="bl" rotWithShape="0" blurRad="127000" dist="25400" dir="5400000">
              <a:srgbClr val="9AA9B8">
                <a:alpha val="22000"/>
              </a:srgbClr>
            </a:outerShdw>
          </a:effectLst>
        </p:spPr>
      </p:sp>
      <p:sp>
        <p:nvSpPr>
          <p:cNvPr id="8" name="Text 5"/>
          <p:cNvSpPr/>
          <p:nvPr/>
        </p:nvSpPr>
        <p:spPr>
          <a:xfrm>
            <a:off x="8321040" y="2267712"/>
            <a:ext cx="2926080" cy="292608"/>
          </a:xfrm>
          <a:prstGeom prst="rect">
            <a:avLst/>
          </a:prstGeom>
          <a:noFill/>
          <a:ln/>
        </p:spPr>
        <p:txBody>
          <a:bodyPr wrap="square" lIns="0" tIns="0" rIns="0" bIns="0"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Por qué no mejora</a:t>
            </a:r>
            <a:endParaRPr lang="en-US" sz="1500" dirty="0"/>
          </a:p>
        </p:txBody>
      </p:sp>
      <p:sp>
        <p:nvSpPr>
          <p:cNvPr id="9" name="Text 6"/>
          <p:cNvSpPr/>
          <p:nvPr/>
        </p:nvSpPr>
        <p:spPr>
          <a:xfrm>
            <a:off x="8321040" y="2697480"/>
            <a:ext cx="2926080" cy="1188720"/>
          </a:xfrm>
          <a:prstGeom prst="rect">
            <a:avLst/>
          </a:prstGeom>
          <a:noFill/>
          <a:ln/>
        </p:spPr>
        <p:txBody>
          <a:bodyPr wrap="square" lIns="0" tIns="0" rIns="0" bIns="0" rtlCol="0" anchor="ctr"/>
          <a:lstStyle/>
          <a:p>
            <a:pPr indent="0" marL="0">
              <a:lnSpc>
                <a:spcPts val="1800"/>
              </a:lnSpc>
              <a:buNone/>
            </a:pPr>
            <a:r>
              <a:rPr lang="en-US" sz="1250" dirty="0">
                <a:solidFill>
                  <a:srgbClr val="9BB0C4"/>
                </a:solidFill>
                <a:latin typeface="Calibri" pitchFamily="34" charset="0"/>
                <a:ea typeface="Calibri" pitchFamily="34" charset="-122"/>
                <a:cs typeface="Calibri" pitchFamily="34" charset="-120"/>
              </a:rPr>
              <a:t>Los acumuladores son diminutos: 8 sucursales y 12 productos. La presión sobre el heap es mínima, así que el recolector casi no interviene.</a:t>
            </a:r>
            <a:endParaRPr lang="en-US" sz="1250" dirty="0"/>
          </a:p>
        </p:txBody>
      </p:sp>
      <p:sp>
        <p:nvSpPr>
          <p:cNvPr id="10" name="Text 7"/>
          <p:cNvSpPr/>
          <p:nvPr/>
        </p:nvSpPr>
        <p:spPr>
          <a:xfrm>
            <a:off x="8321040" y="3977640"/>
            <a:ext cx="2926080" cy="292608"/>
          </a:xfrm>
          <a:prstGeom prst="rect">
            <a:avLst/>
          </a:prstGeom>
          <a:noFill/>
          <a:ln/>
        </p:spPr>
        <p:txBody>
          <a:bodyPr wrap="square" lIns="0" tIns="0" rIns="0" bIns="0"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Lo que sí sobrevivió</a:t>
            </a:r>
            <a:endParaRPr lang="en-US" sz="1500" dirty="0"/>
          </a:p>
        </p:txBody>
      </p:sp>
      <p:sp>
        <p:nvSpPr>
          <p:cNvPr id="11" name="Text 8"/>
          <p:cNvSpPr/>
          <p:nvPr/>
        </p:nvSpPr>
        <p:spPr>
          <a:xfrm>
            <a:off x="8321040" y="4389120"/>
            <a:ext cx="2926080" cy="1005840"/>
          </a:xfrm>
          <a:prstGeom prst="rect">
            <a:avLst/>
          </a:prstGeom>
          <a:noFill/>
          <a:ln/>
        </p:spPr>
        <p:txBody>
          <a:bodyPr wrap="square" lIns="0" tIns="0" rIns="0" bIns="0" rtlCol="0" anchor="ctr"/>
          <a:lstStyle/>
          <a:p>
            <a:pPr indent="0" marL="0">
              <a:lnSpc>
                <a:spcPts val="1800"/>
              </a:lnSpc>
              <a:buNone/>
            </a:pPr>
            <a:r>
              <a:rPr lang="en-US" sz="1250" dirty="0">
                <a:solidFill>
                  <a:srgbClr val="9BB0C4"/>
                </a:solidFill>
                <a:latin typeface="Calibri" pitchFamily="34" charset="0"/>
                <a:ea typeface="Calibri" pitchFamily="34" charset="-122"/>
                <a:cs typeface="Calibri" pitchFamily="34" charset="-120"/>
              </a:rPr>
              <a:t>El ranking entre estrategias: todas se dividían entre el mismo baseline erróneo, así que el error se cancelaba.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58368" y="182880"/>
            <a:ext cx="1088136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ESCALABILIDAD</a:t>
            </a:r>
            <a:endParaRPr lang="en-US" sz="1200" dirty="0"/>
          </a:p>
        </p:txBody>
      </p:sp>
      <p:sp>
        <p:nvSpPr>
          <p:cNvPr id="3" name="Text 1"/>
          <p:cNvSpPr/>
          <p:nvPr/>
        </p:nvSpPr>
        <p:spPr>
          <a:xfrm>
            <a:off x="640080" y="411480"/>
            <a:ext cx="10972800" cy="685800"/>
          </a:xfrm>
          <a:prstGeom prst="rect">
            <a:avLst/>
          </a:prstGeom>
          <a:noFill/>
          <a:ln/>
        </p:spPr>
        <p:txBody>
          <a:bodyPr wrap="square" lIns="0" tIns="0" rIns="0" bIns="0" rtlCol="0" anchor="ctr"/>
          <a:lstStyle/>
          <a:p>
            <a:pPr algn="l" indent="0" marL="0">
              <a:buNone/>
            </a:pPr>
            <a:r>
              <a:rPr lang="en-US" sz="3800" b="1" dirty="0">
                <a:solidFill>
                  <a:srgbClr val="14202E"/>
                </a:solidFill>
                <a:latin typeface="Cambria" pitchFamily="34" charset="0"/>
                <a:ea typeface="Cambria" pitchFamily="34" charset="-122"/>
                <a:cs typeface="Cambria" pitchFamily="34" charset="-120"/>
              </a:rPr>
              <a:t>¿Aguanta crecer?</a:t>
            </a:r>
            <a:endParaRPr lang="en-US" sz="3800" dirty="0"/>
          </a:p>
        </p:txBody>
      </p:sp>
      <p:sp>
        <p:nvSpPr>
          <p:cNvPr id="4" name="Text 2"/>
          <p:cNvSpPr/>
          <p:nvPr/>
        </p:nvSpPr>
        <p:spPr>
          <a:xfrm>
            <a:off x="658368" y="1188720"/>
            <a:ext cx="7040880" cy="320040"/>
          </a:xfrm>
          <a:prstGeom prst="rect">
            <a:avLst/>
          </a:prstGeom>
          <a:noFill/>
          <a:ln/>
        </p:spPr>
        <p:txBody>
          <a:bodyPr wrap="square" lIns="0" tIns="0" rIns="0" bIns="0" rtlCol="0" anchor="ctr"/>
          <a:lstStyle/>
          <a:p>
            <a:pPr indent="0" marL="0">
              <a:buNone/>
            </a:pPr>
            <a:r>
              <a:rPr lang="en-US" sz="1400" dirty="0">
                <a:solidFill>
                  <a:srgbClr val="5A6B7D"/>
                </a:solidFill>
                <a:latin typeface="Calibri" pitchFamily="34" charset="0"/>
                <a:ea typeface="Calibri" pitchFamily="34" charset="-122"/>
                <a:cs typeface="Calibri" pitchFamily="34" charset="-120"/>
              </a:rPr>
              <a:t>Escalabilidad débil: se duplican los datos y los hilos a la vez. El ideal es que el tiempo no cambie.</a:t>
            </a:r>
            <a:endParaRPr lang="en-US" sz="1400" dirty="0"/>
          </a:p>
        </p:txBody>
      </p:sp>
      <p:graphicFrame>
        <p:nvGraphicFramePr>
          <p:cNvPr id="5" name="Chart 0" descr=""/>
          <p:cNvGraphicFramePr/>
          <p:nvPr/>
        </p:nvGraphicFramePr>
        <p:xfrm>
          <a:off x="640080" y="1645920"/>
          <a:ext cx="7040880" cy="37947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58368" y="5504688"/>
            <a:ext cx="7040880" cy="274320"/>
          </a:xfrm>
          <a:prstGeom prst="rect">
            <a:avLst/>
          </a:prstGeom>
          <a:noFill/>
          <a:ln/>
        </p:spPr>
        <p:txBody>
          <a:bodyPr wrap="square" lIns="0" tIns="0" rIns="0" bIns="0" rtlCol="0" anchor="ctr"/>
          <a:lstStyle/>
          <a:p>
            <a:pPr indent="0" marL="0">
              <a:buNone/>
            </a:pPr>
            <a:r>
              <a:rPr lang="en-US" sz="1200" i="1" dirty="0">
                <a:solidFill>
                  <a:srgbClr val="5A6B7D"/>
                </a:solidFill>
                <a:latin typeface="Calibri" pitchFamily="34" charset="0"/>
                <a:ea typeface="Calibri" pitchFamily="34" charset="-122"/>
                <a:cs typeface="Calibri" pitchFamily="34" charset="-120"/>
              </a:rPr>
              <a:t>8 veces más datos procesados en prácticamente el mismo tiempo.</a:t>
            </a:r>
            <a:endParaRPr lang="en-US" sz="1200" dirty="0"/>
          </a:p>
        </p:txBody>
      </p:sp>
      <p:sp>
        <p:nvSpPr>
          <p:cNvPr id="7" name="Shape 4"/>
          <p:cNvSpPr/>
          <p:nvPr/>
        </p:nvSpPr>
        <p:spPr>
          <a:xfrm>
            <a:off x="8001000" y="1645920"/>
            <a:ext cx="3547872"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8" name="Text 5"/>
          <p:cNvSpPr/>
          <p:nvPr/>
        </p:nvSpPr>
        <p:spPr>
          <a:xfrm>
            <a:off x="8275320" y="1874520"/>
            <a:ext cx="3017520" cy="640080"/>
          </a:xfrm>
          <a:prstGeom prst="rect">
            <a:avLst/>
          </a:prstGeom>
          <a:noFill/>
          <a:ln/>
        </p:spPr>
        <p:txBody>
          <a:bodyPr wrap="square" lIns="0" tIns="0" rIns="0" bIns="0" rtlCol="0" anchor="ctr"/>
          <a:lstStyle/>
          <a:p>
            <a:pPr indent="0" marL="0">
              <a:buNone/>
            </a:pPr>
            <a:r>
              <a:rPr lang="en-US" sz="4000" b="1" dirty="0">
                <a:solidFill>
                  <a:srgbClr val="00A896"/>
                </a:solidFill>
                <a:latin typeface="Cambria" pitchFamily="34" charset="0"/>
                <a:ea typeface="Cambria" pitchFamily="34" charset="-122"/>
                <a:cs typeface="Cambria" pitchFamily="34" charset="-120"/>
              </a:rPr>
              <a:t>6.8×</a:t>
            </a:r>
            <a:endParaRPr lang="en-US" sz="4000" dirty="0"/>
          </a:p>
        </p:txBody>
      </p:sp>
      <p:sp>
        <p:nvSpPr>
          <p:cNvPr id="9" name="Text 6"/>
          <p:cNvSpPr/>
          <p:nvPr/>
        </p:nvSpPr>
        <p:spPr>
          <a:xfrm>
            <a:off x="8275320" y="2514600"/>
            <a:ext cx="3017520" cy="274320"/>
          </a:xfrm>
          <a:prstGeom prst="rect">
            <a:avLst/>
          </a:prstGeom>
          <a:noFill/>
          <a:ln/>
        </p:spPr>
        <p:txBody>
          <a:bodyPr wrap="square" lIns="0" tIns="0" rIns="0" bIns="0" rtlCol="0" anchor="ctr"/>
          <a:lstStyle/>
          <a:p>
            <a:pPr indent="0" marL="0">
              <a:buNone/>
            </a:pPr>
            <a:r>
              <a:rPr lang="en-US" sz="1400" b="1" dirty="0">
                <a:solidFill>
                  <a:srgbClr val="14202E"/>
                </a:solidFill>
                <a:latin typeface="Calibri" pitchFamily="34" charset="0"/>
                <a:ea typeface="Calibri" pitchFamily="34" charset="-122"/>
                <a:cs typeface="Calibri" pitchFamily="34" charset="-120"/>
              </a:rPr>
              <a:t>Escalabilidad fuerte</a:t>
            </a:r>
            <a:endParaRPr lang="en-US" sz="1400" dirty="0"/>
          </a:p>
        </p:txBody>
      </p:sp>
      <p:sp>
        <p:nvSpPr>
          <p:cNvPr id="10" name="Text 7"/>
          <p:cNvSpPr/>
          <p:nvPr/>
        </p:nvSpPr>
        <p:spPr>
          <a:xfrm>
            <a:off x="8275320" y="2816352"/>
            <a:ext cx="3017520" cy="548640"/>
          </a:xfrm>
          <a:prstGeom prst="rect">
            <a:avLst/>
          </a:prstGeom>
          <a:noFill/>
          <a:ln/>
        </p:spPr>
        <p:txBody>
          <a:bodyPr wrap="square" lIns="0" tIns="0" rIns="0" bIns="0" rtlCol="0" anchor="ctr"/>
          <a:lstStyle/>
          <a:p>
            <a:pPr indent="0" marL="0">
              <a:lnSpc>
                <a:spcPts val="1600"/>
              </a:lnSpc>
              <a:buNone/>
            </a:pPr>
            <a:r>
              <a:rPr lang="en-US" sz="1200" dirty="0">
                <a:solidFill>
                  <a:srgbClr val="5A6B7D"/>
                </a:solidFill>
                <a:latin typeface="Calibri" pitchFamily="34" charset="0"/>
                <a:ea typeface="Calibri" pitchFamily="34" charset="-122"/>
                <a:cs typeface="Calibri" pitchFamily="34" charset="-120"/>
              </a:rPr>
              <a:t>Speedup con 8 hilos sobre un dataset fijo de 5 M de filas.</a:t>
            </a:r>
            <a:endParaRPr lang="en-US" sz="1200" dirty="0"/>
          </a:p>
        </p:txBody>
      </p:sp>
      <p:sp>
        <p:nvSpPr>
          <p:cNvPr id="11" name="Shape 8"/>
          <p:cNvSpPr/>
          <p:nvPr/>
        </p:nvSpPr>
        <p:spPr>
          <a:xfrm>
            <a:off x="8001000" y="3657600"/>
            <a:ext cx="3547872" cy="1783080"/>
          </a:xfrm>
          <a:prstGeom prst="roundRect">
            <a:avLst>
              <a:gd name="adj" fmla="val 4103"/>
            </a:avLst>
          </a:prstGeom>
          <a:solidFill>
            <a:srgbClr val="FFFFFF"/>
          </a:solidFill>
          <a:ln w="12700">
            <a:solidFill>
              <a:srgbClr val="FFFFFF"/>
            </a:solidFill>
            <a:prstDash val="solid"/>
          </a:ln>
          <a:effectLst>
            <a:outerShdw sx="100000" sy="100000" kx="0" ky="0" algn="bl" rotWithShape="0" blurRad="127000" dist="25400" dir="5400000">
              <a:srgbClr val="9AA9B8">
                <a:alpha val="22000"/>
              </a:srgbClr>
            </a:outerShdw>
          </a:effectLst>
        </p:spPr>
      </p:sp>
      <p:sp>
        <p:nvSpPr>
          <p:cNvPr id="12" name="Text 9"/>
          <p:cNvSpPr/>
          <p:nvPr/>
        </p:nvSpPr>
        <p:spPr>
          <a:xfrm>
            <a:off x="8275320" y="3877056"/>
            <a:ext cx="3017520" cy="594360"/>
          </a:xfrm>
          <a:prstGeom prst="rect">
            <a:avLst/>
          </a:prstGeom>
          <a:noFill/>
          <a:ln/>
        </p:spPr>
        <p:txBody>
          <a:bodyPr wrap="square" lIns="0" tIns="0" rIns="0" bIns="0" rtlCol="0" anchor="ctr"/>
          <a:lstStyle/>
          <a:p>
            <a:pPr indent="0" marL="0">
              <a:buNone/>
            </a:pPr>
            <a:r>
              <a:rPr lang="en-US" sz="3600" b="1" dirty="0">
                <a:solidFill>
                  <a:srgbClr val="00A896"/>
                </a:solidFill>
                <a:latin typeface="Cambria" pitchFamily="34" charset="0"/>
                <a:ea typeface="Cambria" pitchFamily="34" charset="-122"/>
                <a:cs typeface="Cambria" pitchFamily="34" charset="-120"/>
              </a:rPr>
              <a:t>85 M</a:t>
            </a:r>
            <a:endParaRPr lang="en-US" sz="3600" dirty="0"/>
          </a:p>
        </p:txBody>
      </p:sp>
      <p:sp>
        <p:nvSpPr>
          <p:cNvPr id="13" name="Text 10"/>
          <p:cNvSpPr/>
          <p:nvPr/>
        </p:nvSpPr>
        <p:spPr>
          <a:xfrm>
            <a:off x="8275320" y="4480560"/>
            <a:ext cx="3017520" cy="274320"/>
          </a:xfrm>
          <a:prstGeom prst="rect">
            <a:avLst/>
          </a:prstGeom>
          <a:noFill/>
          <a:ln/>
        </p:spPr>
        <p:txBody>
          <a:bodyPr wrap="square" lIns="0" tIns="0" rIns="0" bIns="0" rtlCol="0" anchor="ctr"/>
          <a:lstStyle/>
          <a:p>
            <a:pPr indent="0" marL="0">
              <a:buNone/>
            </a:pPr>
            <a:r>
              <a:rPr lang="en-US" sz="1400" b="1" dirty="0">
                <a:solidFill>
                  <a:srgbClr val="14202E"/>
                </a:solidFill>
                <a:latin typeface="Calibri" pitchFamily="34" charset="0"/>
                <a:ea typeface="Calibri" pitchFamily="34" charset="-122"/>
                <a:cs typeface="Calibri" pitchFamily="34" charset="-120"/>
              </a:rPr>
              <a:t>filas por segundo</a:t>
            </a:r>
            <a:endParaRPr lang="en-US" sz="1400" dirty="0"/>
          </a:p>
        </p:txBody>
      </p:sp>
      <p:sp>
        <p:nvSpPr>
          <p:cNvPr id="14" name="Text 11"/>
          <p:cNvSpPr/>
          <p:nvPr/>
        </p:nvSpPr>
        <p:spPr>
          <a:xfrm>
            <a:off x="8275320" y="4773168"/>
            <a:ext cx="3017520" cy="548640"/>
          </a:xfrm>
          <a:prstGeom prst="rect">
            <a:avLst/>
          </a:prstGeom>
          <a:noFill/>
          <a:ln/>
        </p:spPr>
        <p:txBody>
          <a:bodyPr wrap="square" lIns="0" tIns="0" rIns="0" bIns="0" rtlCol="0" anchor="ctr"/>
          <a:lstStyle/>
          <a:p>
            <a:pPr indent="0" marL="0">
              <a:lnSpc>
                <a:spcPts val="1600"/>
              </a:lnSpc>
              <a:buNone/>
            </a:pPr>
            <a:r>
              <a:rPr lang="en-US" sz="1200" dirty="0">
                <a:solidFill>
                  <a:srgbClr val="5A6B7D"/>
                </a:solidFill>
                <a:latin typeface="Calibri" pitchFamily="34" charset="0"/>
                <a:ea typeface="Calibri" pitchFamily="34" charset="-122"/>
                <a:cs typeface="Calibri" pitchFamily="34" charset="-120"/>
              </a:rPr>
              <a:t>Pico medido, contra 11.5 M/s del baseline secuencial.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02E"/>
        </a:solidFill>
      </p:bgPr>
    </p:bg>
    <p:spTree>
      <p:nvGrpSpPr>
        <p:cNvPr id="1" name=""/>
        <p:cNvGrpSpPr/>
        <p:nvPr/>
      </p:nvGrpSpPr>
      <p:grpSpPr>
        <a:xfrm>
          <a:off x="0" y="0"/>
          <a:ext cx="0" cy="0"/>
          <a:chOff x="0" y="0"/>
          <a:chExt cx="0" cy="0"/>
        </a:xfrm>
      </p:grpSpPr>
      <p:sp>
        <p:nvSpPr>
          <p:cNvPr id="2" name="Text 0"/>
          <p:cNvSpPr/>
          <p:nvPr/>
        </p:nvSpPr>
        <p:spPr>
          <a:xfrm>
            <a:off x="685800" y="502920"/>
            <a:ext cx="10881360"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CONCLUSIONES</a:t>
            </a:r>
            <a:endParaRPr lang="en-US" sz="1200" dirty="0"/>
          </a:p>
        </p:txBody>
      </p:sp>
      <p:sp>
        <p:nvSpPr>
          <p:cNvPr id="3" name="Text 1"/>
          <p:cNvSpPr/>
          <p:nvPr/>
        </p:nvSpPr>
        <p:spPr>
          <a:xfrm>
            <a:off x="658368" y="822960"/>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Lo que quedó demostrado</a:t>
            </a:r>
            <a:endParaRPr lang="en-US" sz="3800" dirty="0"/>
          </a:p>
        </p:txBody>
      </p:sp>
      <p:sp>
        <p:nvSpPr>
          <p:cNvPr id="4" name="Shape 2"/>
          <p:cNvSpPr/>
          <p:nvPr/>
        </p:nvSpPr>
        <p:spPr>
          <a:xfrm>
            <a:off x="640080" y="1874520"/>
            <a:ext cx="5285232" cy="1828800"/>
          </a:xfrm>
          <a:prstGeom prst="roundRect">
            <a:avLst>
              <a:gd name="adj" fmla="val 4000"/>
            </a:avLst>
          </a:prstGeom>
          <a:solidFill>
            <a:srgbClr val="1E2D3F"/>
          </a:solidFill>
          <a:ln w="12700">
            <a:solidFill>
              <a:srgbClr val="1E2D3F"/>
            </a:solidFill>
            <a:prstDash val="solid"/>
          </a:ln>
          <a:effectLst>
            <a:outerShdw sx="100000" sy="100000" kx="0" ky="0" algn="bl" rotWithShape="0" blurRad="127000" dist="25400" dir="5400000">
              <a:srgbClr val="9AA9B8">
                <a:alpha val="22000"/>
              </a:srgbClr>
            </a:outerShdw>
          </a:effectLst>
        </p:spPr>
      </p:sp>
      <p:sp>
        <p:nvSpPr>
          <p:cNvPr id="5" name="Shape 3"/>
          <p:cNvSpPr/>
          <p:nvPr/>
        </p:nvSpPr>
        <p:spPr>
          <a:xfrm>
            <a:off x="932688" y="2148840"/>
            <a:ext cx="457200" cy="457200"/>
          </a:xfrm>
          <a:prstGeom prst="ellipse">
            <a:avLst/>
          </a:prstGeom>
          <a:solidFill>
            <a:srgbClr val="02C39A"/>
          </a:solidFill>
          <a:ln w="12700">
            <a:solidFill>
              <a:srgbClr val="02C39A"/>
            </a:solidFill>
            <a:prstDash val="solid"/>
          </a:ln>
        </p:spPr>
      </p:sp>
      <p:sp>
        <p:nvSpPr>
          <p:cNvPr id="6" name="Text 4"/>
          <p:cNvSpPr/>
          <p:nvPr/>
        </p:nvSpPr>
        <p:spPr>
          <a:xfrm>
            <a:off x="932688" y="2148840"/>
            <a:ext cx="457200" cy="457200"/>
          </a:xfrm>
          <a:prstGeom prst="rect">
            <a:avLst/>
          </a:prstGeom>
          <a:noFill/>
          <a:ln/>
        </p:spPr>
        <p:txBody>
          <a:bodyPr wrap="square" lIns="0" tIns="0" rIns="0" bIns="0" rtlCol="0" anchor="ctr"/>
          <a:lstStyle/>
          <a:p>
            <a:pPr algn="ctr" indent="0" marL="0">
              <a:buNone/>
            </a:pPr>
            <a:r>
              <a:rPr lang="en-US" sz="1500" b="1" dirty="0">
                <a:solidFill>
                  <a:srgbClr val="14202E"/>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54480" y="2130552"/>
            <a:ext cx="4114800" cy="5029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El cuello de botella es la sincronización, no el paralelismo</a:t>
            </a:r>
            <a:endParaRPr lang="en-US" sz="1500" dirty="0"/>
          </a:p>
        </p:txBody>
      </p:sp>
      <p:sp>
        <p:nvSpPr>
          <p:cNvPr id="8" name="Text 6"/>
          <p:cNvSpPr/>
          <p:nvPr/>
        </p:nvSpPr>
        <p:spPr>
          <a:xfrm>
            <a:off x="950976" y="2715768"/>
            <a:ext cx="4663440" cy="822960"/>
          </a:xfrm>
          <a:prstGeom prst="rect">
            <a:avLst/>
          </a:prstGeom>
          <a:noFill/>
          <a:ln/>
        </p:spPr>
        <p:txBody>
          <a:bodyPr wrap="square" lIns="0" tIns="0" rIns="0" bIns="0" rtlCol="0" anchor="ctr"/>
          <a:lstStyle/>
          <a:p>
            <a:pPr indent="0" marL="0">
              <a:lnSpc>
                <a:spcPts val="1700"/>
              </a:lnSpc>
              <a:buNone/>
            </a:pPr>
            <a:r>
              <a:rPr lang="en-US" sz="1250" dirty="0">
                <a:solidFill>
                  <a:srgbClr val="9BB0C4"/>
                </a:solidFill>
                <a:latin typeface="Calibri" pitchFamily="34" charset="0"/>
                <a:ea typeface="Calibri" pitchFamily="34" charset="-122"/>
                <a:cs typeface="Calibri" pitchFamily="34" charset="-120"/>
              </a:rPr>
              <a:t>Sincronizar en cada fila da 6–10 % de eficiencia; hacerlo una vez por partición da 32–42 %. Entre 4 y 7 veces mejor, con el mismo número de hilos.</a:t>
            </a:r>
            <a:endParaRPr lang="en-US" sz="1250" dirty="0"/>
          </a:p>
        </p:txBody>
      </p:sp>
      <p:sp>
        <p:nvSpPr>
          <p:cNvPr id="9" name="Shape 7"/>
          <p:cNvSpPr/>
          <p:nvPr/>
        </p:nvSpPr>
        <p:spPr>
          <a:xfrm>
            <a:off x="6263640" y="1874520"/>
            <a:ext cx="5285232" cy="1828800"/>
          </a:xfrm>
          <a:prstGeom prst="roundRect">
            <a:avLst>
              <a:gd name="adj" fmla="val 4000"/>
            </a:avLst>
          </a:prstGeom>
          <a:solidFill>
            <a:srgbClr val="1E2D3F"/>
          </a:solidFill>
          <a:ln w="12700">
            <a:solidFill>
              <a:srgbClr val="1E2D3F"/>
            </a:solidFill>
            <a:prstDash val="solid"/>
          </a:ln>
          <a:effectLst>
            <a:outerShdw sx="100000" sy="100000" kx="0" ky="0" algn="bl" rotWithShape="0" blurRad="127000" dist="25400" dir="5400000">
              <a:srgbClr val="9AA9B8">
                <a:alpha val="22000"/>
              </a:srgbClr>
            </a:outerShdw>
          </a:effectLst>
        </p:spPr>
      </p:sp>
      <p:sp>
        <p:nvSpPr>
          <p:cNvPr id="10" name="Shape 8"/>
          <p:cNvSpPr/>
          <p:nvPr/>
        </p:nvSpPr>
        <p:spPr>
          <a:xfrm>
            <a:off x="6556248" y="2148840"/>
            <a:ext cx="457200" cy="457200"/>
          </a:xfrm>
          <a:prstGeom prst="ellipse">
            <a:avLst/>
          </a:prstGeom>
          <a:solidFill>
            <a:srgbClr val="02C39A"/>
          </a:solidFill>
          <a:ln w="12700">
            <a:solidFill>
              <a:srgbClr val="02C39A"/>
            </a:solidFill>
            <a:prstDash val="solid"/>
          </a:ln>
        </p:spPr>
      </p:sp>
      <p:sp>
        <p:nvSpPr>
          <p:cNvPr id="11" name="Text 9"/>
          <p:cNvSpPr/>
          <p:nvPr/>
        </p:nvSpPr>
        <p:spPr>
          <a:xfrm>
            <a:off x="6556248" y="2148840"/>
            <a:ext cx="457200" cy="457200"/>
          </a:xfrm>
          <a:prstGeom prst="rect">
            <a:avLst/>
          </a:prstGeom>
          <a:noFill/>
          <a:ln/>
        </p:spPr>
        <p:txBody>
          <a:bodyPr wrap="square" lIns="0" tIns="0" rIns="0" bIns="0" rtlCol="0" anchor="ctr"/>
          <a:lstStyle/>
          <a:p>
            <a:pPr algn="ctr" indent="0" marL="0">
              <a:buNone/>
            </a:pPr>
            <a:r>
              <a:rPr lang="en-US" sz="1500" b="1" dirty="0">
                <a:solidFill>
                  <a:srgbClr val="14202E"/>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178040" y="2130552"/>
            <a:ext cx="4114800" cy="5029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El techo real lo pone el hardware</a:t>
            </a:r>
            <a:endParaRPr lang="en-US" sz="1500" dirty="0"/>
          </a:p>
        </p:txBody>
      </p:sp>
      <p:sp>
        <p:nvSpPr>
          <p:cNvPr id="13" name="Text 11"/>
          <p:cNvSpPr/>
          <p:nvPr/>
        </p:nvSpPr>
        <p:spPr>
          <a:xfrm>
            <a:off x="6574536" y="2715768"/>
            <a:ext cx="4663440" cy="822960"/>
          </a:xfrm>
          <a:prstGeom prst="rect">
            <a:avLst/>
          </a:prstGeom>
          <a:noFill/>
          <a:ln/>
        </p:spPr>
        <p:txBody>
          <a:bodyPr wrap="square" lIns="0" tIns="0" rIns="0" bIns="0" rtlCol="0" anchor="ctr"/>
          <a:lstStyle/>
          <a:p>
            <a:pPr indent="0" marL="0">
              <a:lnSpc>
                <a:spcPts val="1700"/>
              </a:lnSpc>
              <a:buNone/>
            </a:pPr>
            <a:r>
              <a:rPr lang="en-US" sz="1250" dirty="0">
                <a:solidFill>
                  <a:srgbClr val="9BB0C4"/>
                </a:solidFill>
                <a:latin typeface="Calibri" pitchFamily="34" charset="0"/>
                <a:ea typeface="Calibri" pitchFamily="34" charset="-122"/>
                <a:cs typeface="Calibri" pitchFamily="34" charset="-120"/>
              </a:rPr>
              <a:t>Sin sincronización por fila, las cinco variantes rinden casi igual y todas se estancan cerca del 40 % con 8 hilos: son 4 núcleos físicos y, en datasets grandes, el ancho de banda de memoria.</a:t>
            </a:r>
            <a:endParaRPr lang="en-US" sz="1250" dirty="0"/>
          </a:p>
        </p:txBody>
      </p:sp>
      <p:sp>
        <p:nvSpPr>
          <p:cNvPr id="14" name="Shape 12"/>
          <p:cNvSpPr/>
          <p:nvPr/>
        </p:nvSpPr>
        <p:spPr>
          <a:xfrm>
            <a:off x="640080" y="3931920"/>
            <a:ext cx="5285232" cy="1828800"/>
          </a:xfrm>
          <a:prstGeom prst="roundRect">
            <a:avLst>
              <a:gd name="adj" fmla="val 4000"/>
            </a:avLst>
          </a:prstGeom>
          <a:solidFill>
            <a:srgbClr val="1E2D3F"/>
          </a:solidFill>
          <a:ln w="12700">
            <a:solidFill>
              <a:srgbClr val="1E2D3F"/>
            </a:solidFill>
            <a:prstDash val="solid"/>
          </a:ln>
          <a:effectLst>
            <a:outerShdw sx="100000" sy="100000" kx="0" ky="0" algn="bl" rotWithShape="0" blurRad="127000" dist="25400" dir="5400000">
              <a:srgbClr val="9AA9B8">
                <a:alpha val="22000"/>
              </a:srgbClr>
            </a:outerShdw>
          </a:effectLst>
        </p:spPr>
      </p:sp>
      <p:sp>
        <p:nvSpPr>
          <p:cNvPr id="15" name="Shape 13"/>
          <p:cNvSpPr/>
          <p:nvPr/>
        </p:nvSpPr>
        <p:spPr>
          <a:xfrm>
            <a:off x="932688" y="4206240"/>
            <a:ext cx="457200" cy="457200"/>
          </a:xfrm>
          <a:prstGeom prst="ellipse">
            <a:avLst/>
          </a:prstGeom>
          <a:solidFill>
            <a:srgbClr val="02C39A"/>
          </a:solidFill>
          <a:ln w="12700">
            <a:solidFill>
              <a:srgbClr val="02C39A"/>
            </a:solidFill>
            <a:prstDash val="solid"/>
          </a:ln>
        </p:spPr>
      </p:sp>
      <p:sp>
        <p:nvSpPr>
          <p:cNvPr id="16" name="Text 14"/>
          <p:cNvSpPr/>
          <p:nvPr/>
        </p:nvSpPr>
        <p:spPr>
          <a:xfrm>
            <a:off x="932688" y="4206240"/>
            <a:ext cx="457200" cy="457200"/>
          </a:xfrm>
          <a:prstGeom prst="rect">
            <a:avLst/>
          </a:prstGeom>
          <a:noFill/>
          <a:ln/>
        </p:spPr>
        <p:txBody>
          <a:bodyPr wrap="square" lIns="0" tIns="0" rIns="0" bIns="0" rtlCol="0" anchor="ctr"/>
          <a:lstStyle/>
          <a:p>
            <a:pPr algn="ctr" indent="0" marL="0">
              <a:buNone/>
            </a:pPr>
            <a:r>
              <a:rPr lang="en-US" sz="1500" b="1" dirty="0">
                <a:solidFill>
                  <a:srgbClr val="14202E"/>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54480" y="4187952"/>
            <a:ext cx="4114800" cy="5029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Una medición sin repetir no es un resultado</a:t>
            </a:r>
            <a:endParaRPr lang="en-US" sz="1500" dirty="0"/>
          </a:p>
        </p:txBody>
      </p:sp>
      <p:sp>
        <p:nvSpPr>
          <p:cNvPr id="18" name="Text 16"/>
          <p:cNvSpPr/>
          <p:nvPr/>
        </p:nvSpPr>
        <p:spPr>
          <a:xfrm>
            <a:off x="950976" y="4773168"/>
            <a:ext cx="4663440" cy="822960"/>
          </a:xfrm>
          <a:prstGeom prst="rect">
            <a:avLst/>
          </a:prstGeom>
          <a:noFill/>
          <a:ln/>
        </p:spPr>
        <p:txBody>
          <a:bodyPr wrap="square" lIns="0" tIns="0" rIns="0" bIns="0" rtlCol="0" anchor="ctr"/>
          <a:lstStyle/>
          <a:p>
            <a:pPr indent="0" marL="0">
              <a:lnSpc>
                <a:spcPts val="1700"/>
              </a:lnSpc>
              <a:buNone/>
            </a:pPr>
            <a:r>
              <a:rPr lang="en-US" sz="1250" dirty="0">
                <a:solidFill>
                  <a:srgbClr val="9BB0C4"/>
                </a:solidFill>
                <a:latin typeface="Calibri" pitchFamily="34" charset="0"/>
                <a:ea typeface="Calibri" pitchFamily="34" charset="-122"/>
                <a:cs typeface="Calibri" pitchFamily="34" charset="-120"/>
              </a:rPr>
              <a:t>Repetir 3 veces desmintió la primera conclusión. Las diferencias grandes se ven siempre; las finas exigen promediar.</a:t>
            </a:r>
            <a:endParaRPr lang="en-US" sz="1250" dirty="0"/>
          </a:p>
        </p:txBody>
      </p:sp>
      <p:sp>
        <p:nvSpPr>
          <p:cNvPr id="19" name="Shape 17"/>
          <p:cNvSpPr/>
          <p:nvPr/>
        </p:nvSpPr>
        <p:spPr>
          <a:xfrm>
            <a:off x="6263640" y="3931920"/>
            <a:ext cx="5285232" cy="1828800"/>
          </a:xfrm>
          <a:prstGeom prst="roundRect">
            <a:avLst>
              <a:gd name="adj" fmla="val 4000"/>
            </a:avLst>
          </a:prstGeom>
          <a:solidFill>
            <a:srgbClr val="1E2D3F"/>
          </a:solidFill>
          <a:ln w="12700">
            <a:solidFill>
              <a:srgbClr val="1E2D3F"/>
            </a:solidFill>
            <a:prstDash val="solid"/>
          </a:ln>
          <a:effectLst>
            <a:outerShdw sx="100000" sy="100000" kx="0" ky="0" algn="bl" rotWithShape="0" blurRad="127000" dist="25400" dir="5400000">
              <a:srgbClr val="9AA9B8">
                <a:alpha val="22000"/>
              </a:srgbClr>
            </a:outerShdw>
          </a:effectLst>
        </p:spPr>
      </p:sp>
      <p:sp>
        <p:nvSpPr>
          <p:cNvPr id="20" name="Shape 18"/>
          <p:cNvSpPr/>
          <p:nvPr/>
        </p:nvSpPr>
        <p:spPr>
          <a:xfrm>
            <a:off x="6556248" y="4206240"/>
            <a:ext cx="457200" cy="457200"/>
          </a:xfrm>
          <a:prstGeom prst="ellipse">
            <a:avLst/>
          </a:prstGeom>
          <a:solidFill>
            <a:srgbClr val="02C39A"/>
          </a:solidFill>
          <a:ln w="12700">
            <a:solidFill>
              <a:srgbClr val="02C39A"/>
            </a:solidFill>
            <a:prstDash val="solid"/>
          </a:ln>
        </p:spPr>
      </p:sp>
      <p:sp>
        <p:nvSpPr>
          <p:cNvPr id="21" name="Text 19"/>
          <p:cNvSpPr/>
          <p:nvPr/>
        </p:nvSpPr>
        <p:spPr>
          <a:xfrm>
            <a:off x="6556248" y="4206240"/>
            <a:ext cx="457200" cy="457200"/>
          </a:xfrm>
          <a:prstGeom prst="rect">
            <a:avLst/>
          </a:prstGeom>
          <a:noFill/>
          <a:ln/>
        </p:spPr>
        <p:txBody>
          <a:bodyPr wrap="square" lIns="0" tIns="0" rIns="0" bIns="0" rtlCol="0" anchor="ctr"/>
          <a:lstStyle/>
          <a:p>
            <a:pPr algn="ctr" indent="0" marL="0">
              <a:buNone/>
            </a:pPr>
            <a:r>
              <a:rPr lang="en-US" sz="1500" b="1" dirty="0">
                <a:solidFill>
                  <a:srgbClr val="14202E"/>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178040" y="4187952"/>
            <a:ext cx="4114800" cy="5029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El nivel de abstracción se paga</a:t>
            </a:r>
            <a:endParaRPr lang="en-US" sz="1500" dirty="0"/>
          </a:p>
        </p:txBody>
      </p:sp>
      <p:sp>
        <p:nvSpPr>
          <p:cNvPr id="23" name="Text 21"/>
          <p:cNvSpPr/>
          <p:nvPr/>
        </p:nvSpPr>
        <p:spPr>
          <a:xfrm>
            <a:off x="6574536" y="4773168"/>
            <a:ext cx="4663440" cy="822960"/>
          </a:xfrm>
          <a:prstGeom prst="rect">
            <a:avLst/>
          </a:prstGeom>
          <a:noFill/>
          <a:ln/>
        </p:spPr>
        <p:txBody>
          <a:bodyPr wrap="square" lIns="0" tIns="0" rIns="0" bIns="0" rtlCol="0" anchor="ctr"/>
          <a:lstStyle/>
          <a:p>
            <a:pPr indent="0" marL="0">
              <a:lnSpc>
                <a:spcPts val="1700"/>
              </a:lnSpc>
              <a:buNone/>
            </a:pPr>
            <a:r>
              <a:rPr lang="en-US" sz="1250" dirty="0">
                <a:solidFill>
                  <a:srgbClr val="9BB0C4"/>
                </a:solidFill>
                <a:latin typeface="Calibri" pitchFamily="34" charset="0"/>
                <a:ea typeface="Calibri" pitchFamily="34" charset="-122"/>
                <a:cs typeface="Calibri" pitchFamily="34" charset="-120"/>
              </a:rPr>
              <a:t>PLINQ es el código más corto y legible, y el que peor rindió: al no controlar el particionado, tampoco se puede diagnosticar.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02E"/>
        </a:solidFill>
      </p:bgPr>
    </p:bg>
    <p:spTree>
      <p:nvGrpSpPr>
        <p:cNvPr id="1" name=""/>
        <p:cNvGrpSpPr/>
        <p:nvPr/>
      </p:nvGrpSpPr>
      <p:grpSpPr>
        <a:xfrm>
          <a:off x="0" y="0"/>
          <a:ext cx="0" cy="0"/>
          <a:chOff x="0" y="0"/>
          <a:chExt cx="0" cy="0"/>
        </a:xfrm>
      </p:grpSpPr>
      <p:sp>
        <p:nvSpPr>
          <p:cNvPr id="2" name="Text 0"/>
          <p:cNvSpPr/>
          <p:nvPr/>
        </p:nvSpPr>
        <p:spPr>
          <a:xfrm>
            <a:off x="713232" y="1371600"/>
            <a:ext cx="5852160"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PRÓXIMOS PASOS</a:t>
            </a:r>
            <a:endParaRPr lang="en-US" sz="1200" dirty="0"/>
          </a:p>
        </p:txBody>
      </p:sp>
      <p:sp>
        <p:nvSpPr>
          <p:cNvPr id="3" name="Text 1"/>
          <p:cNvSpPr/>
          <p:nvPr/>
        </p:nvSpPr>
        <p:spPr>
          <a:xfrm>
            <a:off x="685800" y="1719072"/>
            <a:ext cx="5852160"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Lo que queda por probar</a:t>
            </a:r>
            <a:endParaRPr lang="en-US" sz="3600" dirty="0"/>
          </a:p>
        </p:txBody>
      </p:sp>
      <p:sp>
        <p:nvSpPr>
          <p:cNvPr id="4" name="Text 2"/>
          <p:cNvSpPr/>
          <p:nvPr/>
        </p:nvSpPr>
        <p:spPr>
          <a:xfrm>
            <a:off x="713232" y="2697480"/>
            <a:ext cx="5760720" cy="2377440"/>
          </a:xfrm>
          <a:prstGeom prst="rect">
            <a:avLst/>
          </a:prstGeom>
          <a:noFill/>
          <a:ln/>
        </p:spPr>
        <p:txBody>
          <a:bodyPr wrap="square" lIns="0" tIns="0" rIns="0" bIns="0" rtlCol="0" anchor="ctr"/>
          <a:lstStyle/>
          <a:p>
            <a:pPr marL="342900" indent="-342900">
              <a:lnSpc>
                <a:spcPts val="2000"/>
              </a:lnSpc>
              <a:spcAft>
                <a:spcPts val="1400"/>
              </a:spcAft>
              <a:buSzPct val="100000"/>
              <a:buChar char="•"/>
            </a:pPr>
            <a:r>
              <a:rPr lang="en-US" sz="1400" dirty="0">
                <a:solidFill>
                  <a:srgbClr val="9BB0C4"/>
                </a:solidFill>
                <a:latin typeface="Calibri" pitchFamily="34" charset="0"/>
                <a:ea typeface="Calibri" pitchFamily="34" charset="-122"/>
                <a:cs typeface="Calibri" pitchFamily="34" charset="-120"/>
              </a:rPr>
              <a:t>Reemplazar los Dictionary&lt;string, T&gt; por arreglos indexados por id numérico: hoy el hash de strings es buena parte del tiempo de mapeo.</a:t>
            </a:r>
            <a:endParaRPr lang="en-US" sz="1400" dirty="0"/>
          </a:p>
          <a:p>
            <a:pPr marL="342900" indent="-342900">
              <a:lnSpc>
                <a:spcPts val="2000"/>
              </a:lnSpc>
              <a:spcAft>
                <a:spcPts val="1400"/>
              </a:spcAft>
              <a:buSzPct val="100000"/>
              <a:buChar char="•"/>
            </a:pPr>
            <a:r>
              <a:rPr lang="en-US" sz="1400" dirty="0">
                <a:solidFill>
                  <a:srgbClr val="9BB0C4"/>
                </a:solidFill>
                <a:latin typeface="Calibri" pitchFamily="34" charset="0"/>
                <a:ea typeface="Calibri" pitchFamily="34" charset="-122"/>
                <a:cs typeface="Calibri" pitchFamily="34" charset="-120"/>
              </a:rPr>
              <a:t>Medir en una máquina con más núcleos físicos, para separar el techo del hardware del techo del algoritmo.</a:t>
            </a:r>
            <a:endParaRPr lang="en-US" sz="1400" dirty="0"/>
          </a:p>
          <a:p>
            <a:pPr marL="342900" indent="-342900">
              <a:lnSpc>
                <a:spcPts val="2000"/>
              </a:lnSpc>
              <a:buSzPct val="100000"/>
              <a:buChar char="•"/>
            </a:pPr>
            <a:r>
              <a:rPr lang="en-US" sz="1400" dirty="0">
                <a:solidFill>
                  <a:srgbClr val="9BB0C4"/>
                </a:solidFill>
                <a:latin typeface="Calibri" pitchFamily="34" charset="0"/>
                <a:ea typeface="Calibri" pitchFamily="34" charset="-122"/>
                <a:cs typeface="Calibri" pitchFamily="34" charset="-120"/>
              </a:rPr>
              <a:t>Paralelizar también la lectura del CSV, que hoy es secuencial y tarda más que la propia agregación.</a:t>
            </a:r>
            <a:endParaRPr lang="en-US" sz="1400" dirty="0"/>
          </a:p>
        </p:txBody>
      </p:sp>
      <p:sp>
        <p:nvSpPr>
          <p:cNvPr id="5" name="Shape 3"/>
          <p:cNvSpPr/>
          <p:nvPr/>
        </p:nvSpPr>
        <p:spPr>
          <a:xfrm>
            <a:off x="7315200" y="1371600"/>
            <a:ext cx="4206240" cy="4114800"/>
          </a:xfrm>
          <a:prstGeom prst="roundRect">
            <a:avLst>
              <a:gd name="adj" fmla="val 1778"/>
            </a:avLst>
          </a:prstGeom>
          <a:solidFill>
            <a:srgbClr val="1E2D3F"/>
          </a:solidFill>
          <a:ln w="12700">
            <a:solidFill>
              <a:srgbClr val="1E2D3F"/>
            </a:solidFill>
            <a:prstDash val="solid"/>
          </a:ln>
          <a:effectLst>
            <a:outerShdw sx="100000" sy="100000" kx="0" ky="0" algn="bl" rotWithShape="0" blurRad="127000" dist="25400" dir="5400000">
              <a:srgbClr val="9AA9B8">
                <a:alpha val="22000"/>
              </a:srgbClr>
            </a:outerShdw>
          </a:effectLst>
        </p:spPr>
      </p:sp>
      <p:sp>
        <p:nvSpPr>
          <p:cNvPr id="6" name="Text 4"/>
          <p:cNvSpPr/>
          <p:nvPr/>
        </p:nvSpPr>
        <p:spPr>
          <a:xfrm>
            <a:off x="7680960" y="1691640"/>
            <a:ext cx="3566160" cy="320040"/>
          </a:xfrm>
          <a:prstGeom prst="rect">
            <a:avLst/>
          </a:prstGeom>
          <a:noFill/>
          <a:ln/>
        </p:spPr>
        <p:txBody>
          <a:bodyPr wrap="square" lIns="0" tIns="0" rIns="0" bIns="0"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El proyecto en números</a:t>
            </a:r>
            <a:endParaRPr lang="en-US" sz="1500" dirty="0"/>
          </a:p>
        </p:txBody>
      </p:sp>
      <p:sp>
        <p:nvSpPr>
          <p:cNvPr id="7" name="Text 5"/>
          <p:cNvSpPr/>
          <p:nvPr/>
        </p:nvSpPr>
        <p:spPr>
          <a:xfrm>
            <a:off x="7680960" y="2240280"/>
            <a:ext cx="118872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9</a:t>
            </a:r>
            <a:endParaRPr lang="en-US" sz="2600" dirty="0"/>
          </a:p>
        </p:txBody>
      </p:sp>
      <p:sp>
        <p:nvSpPr>
          <p:cNvPr id="8" name="Text 6"/>
          <p:cNvSpPr/>
          <p:nvPr/>
        </p:nvSpPr>
        <p:spPr>
          <a:xfrm>
            <a:off x="9006840" y="2313432"/>
            <a:ext cx="2286000" cy="548640"/>
          </a:xfrm>
          <a:prstGeom prst="rect">
            <a:avLst/>
          </a:prstGeom>
          <a:noFill/>
          <a:ln/>
        </p:spPr>
        <p:txBody>
          <a:bodyPr wrap="square" lIns="0" tIns="0" rIns="0" bIns="0" rtlCol="0" anchor="ctr"/>
          <a:lstStyle/>
          <a:p>
            <a:pPr indent="0" marL="0">
              <a:lnSpc>
                <a:spcPts val="1500"/>
              </a:lnSpc>
              <a:buNone/>
            </a:pPr>
            <a:r>
              <a:rPr lang="en-US" sz="1200" dirty="0">
                <a:solidFill>
                  <a:srgbClr val="9BB0C4"/>
                </a:solidFill>
                <a:latin typeface="Calibri" pitchFamily="34" charset="0"/>
                <a:ea typeface="Calibri" pitchFamily="34" charset="-122"/>
                <a:cs typeface="Calibri" pitchFamily="34" charset="-120"/>
              </a:rPr>
              <a:t>estrategias medidas</a:t>
            </a:r>
            <a:endParaRPr lang="en-US" sz="1200" dirty="0"/>
          </a:p>
        </p:txBody>
      </p:sp>
      <p:sp>
        <p:nvSpPr>
          <p:cNvPr id="9" name="Text 7"/>
          <p:cNvSpPr/>
          <p:nvPr/>
        </p:nvSpPr>
        <p:spPr>
          <a:xfrm>
            <a:off x="7680960" y="3035808"/>
            <a:ext cx="118872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61</a:t>
            </a:r>
            <a:endParaRPr lang="en-US" sz="2600" dirty="0"/>
          </a:p>
        </p:txBody>
      </p:sp>
      <p:sp>
        <p:nvSpPr>
          <p:cNvPr id="10" name="Text 8"/>
          <p:cNvSpPr/>
          <p:nvPr/>
        </p:nvSpPr>
        <p:spPr>
          <a:xfrm>
            <a:off x="9006840" y="3108960"/>
            <a:ext cx="2286000" cy="548640"/>
          </a:xfrm>
          <a:prstGeom prst="rect">
            <a:avLst/>
          </a:prstGeom>
          <a:noFill/>
          <a:ln/>
        </p:spPr>
        <p:txBody>
          <a:bodyPr wrap="square" lIns="0" tIns="0" rIns="0" bIns="0" rtlCol="0" anchor="ctr"/>
          <a:lstStyle/>
          <a:p>
            <a:pPr indent="0" marL="0">
              <a:lnSpc>
                <a:spcPts val="1500"/>
              </a:lnSpc>
              <a:buNone/>
            </a:pPr>
            <a:r>
              <a:rPr lang="en-US" sz="1200" dirty="0">
                <a:solidFill>
                  <a:srgbClr val="9BB0C4"/>
                </a:solidFill>
                <a:latin typeface="Calibri" pitchFamily="34" charset="0"/>
                <a:ea typeface="Calibri" pitchFamily="34" charset="-122"/>
                <a:cs typeface="Calibri" pitchFamily="34" charset="-120"/>
              </a:rPr>
              <a:t>pruebas unitarias</a:t>
            </a:r>
            <a:endParaRPr lang="en-US" sz="1200" dirty="0"/>
          </a:p>
        </p:txBody>
      </p:sp>
      <p:sp>
        <p:nvSpPr>
          <p:cNvPr id="11" name="Text 9"/>
          <p:cNvSpPr/>
          <p:nvPr/>
        </p:nvSpPr>
        <p:spPr>
          <a:xfrm>
            <a:off x="7680960" y="3831336"/>
            <a:ext cx="118872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20 M</a:t>
            </a:r>
            <a:endParaRPr lang="en-US" sz="2600" dirty="0"/>
          </a:p>
        </p:txBody>
      </p:sp>
      <p:sp>
        <p:nvSpPr>
          <p:cNvPr id="12" name="Text 10"/>
          <p:cNvSpPr/>
          <p:nvPr/>
        </p:nvSpPr>
        <p:spPr>
          <a:xfrm>
            <a:off x="9006840" y="3904488"/>
            <a:ext cx="2286000" cy="548640"/>
          </a:xfrm>
          <a:prstGeom prst="rect">
            <a:avLst/>
          </a:prstGeom>
          <a:noFill/>
          <a:ln/>
        </p:spPr>
        <p:txBody>
          <a:bodyPr wrap="square" lIns="0" tIns="0" rIns="0" bIns="0" rtlCol="0" anchor="ctr"/>
          <a:lstStyle/>
          <a:p>
            <a:pPr indent="0" marL="0">
              <a:lnSpc>
                <a:spcPts val="1500"/>
              </a:lnSpc>
              <a:buNone/>
            </a:pPr>
            <a:r>
              <a:rPr lang="en-US" sz="1200" dirty="0">
                <a:solidFill>
                  <a:srgbClr val="9BB0C4"/>
                </a:solidFill>
                <a:latin typeface="Calibri" pitchFamily="34" charset="0"/>
                <a:ea typeface="Calibri" pitchFamily="34" charset="-122"/>
                <a:cs typeface="Calibri" pitchFamily="34" charset="-120"/>
              </a:rPr>
              <a:t>filas en el barrido más grande</a:t>
            </a:r>
            <a:endParaRPr lang="en-US" sz="1200" dirty="0"/>
          </a:p>
        </p:txBody>
      </p:sp>
      <p:sp>
        <p:nvSpPr>
          <p:cNvPr id="13" name="Text 11"/>
          <p:cNvSpPr/>
          <p:nvPr/>
        </p:nvSpPr>
        <p:spPr>
          <a:xfrm>
            <a:off x="7680960" y="4626864"/>
            <a:ext cx="118872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42 %</a:t>
            </a:r>
            <a:endParaRPr lang="en-US" sz="2600" dirty="0"/>
          </a:p>
        </p:txBody>
      </p:sp>
      <p:sp>
        <p:nvSpPr>
          <p:cNvPr id="14" name="Text 12"/>
          <p:cNvSpPr/>
          <p:nvPr/>
        </p:nvSpPr>
        <p:spPr>
          <a:xfrm>
            <a:off x="9006840" y="4700016"/>
            <a:ext cx="2286000" cy="548640"/>
          </a:xfrm>
          <a:prstGeom prst="rect">
            <a:avLst/>
          </a:prstGeom>
          <a:noFill/>
          <a:ln/>
        </p:spPr>
        <p:txBody>
          <a:bodyPr wrap="square" lIns="0" tIns="0" rIns="0" bIns="0" rtlCol="0" anchor="ctr"/>
          <a:lstStyle/>
          <a:p>
            <a:pPr indent="0" marL="0">
              <a:lnSpc>
                <a:spcPts val="1500"/>
              </a:lnSpc>
              <a:buNone/>
            </a:pPr>
            <a:r>
              <a:rPr lang="en-US" sz="1200" dirty="0">
                <a:solidFill>
                  <a:srgbClr val="9BB0C4"/>
                </a:solidFill>
                <a:latin typeface="Calibri" pitchFamily="34" charset="0"/>
                <a:ea typeface="Calibri" pitchFamily="34" charset="-122"/>
                <a:cs typeface="Calibri" pitchFamily="34" charset="-120"/>
              </a:rPr>
              <a:t>mejor eficiencia con 8 hilos</a:t>
            </a:r>
            <a:endParaRPr lang="en-US" sz="1200" dirty="0"/>
          </a:p>
        </p:txBody>
      </p:sp>
      <p:sp>
        <p:nvSpPr>
          <p:cNvPr id="15" name="Text 13"/>
          <p:cNvSpPr/>
          <p:nvPr/>
        </p:nvSpPr>
        <p:spPr>
          <a:xfrm>
            <a:off x="713232" y="5806440"/>
            <a:ext cx="10789920" cy="274320"/>
          </a:xfrm>
          <a:prstGeom prst="rect">
            <a:avLst/>
          </a:prstGeom>
          <a:noFill/>
          <a:ln/>
        </p:spPr>
        <p:txBody>
          <a:bodyPr wrap="square" lIns="0" tIns="0" rIns="0" bIns="0" rtlCol="0" anchor="ctr"/>
          <a:lstStyle/>
          <a:p>
            <a:pPr indent="0" marL="0">
              <a:buNone/>
            </a:pPr>
            <a:r>
              <a:rPr lang="en-US" sz="1150" dirty="0">
                <a:solidFill>
                  <a:srgbClr val="6E8298"/>
                </a:solidFill>
                <a:latin typeface="Calibri" pitchFamily="34" charset="0"/>
                <a:ea typeface="Calibri" pitchFamily="34" charset="-122"/>
                <a:cs typeface="Calibri" pitchFamily="34" charset="-120"/>
              </a:rPr>
              <a:t>github.com/IsraelDev-var/VentasParalelo  ·  README.md y REPORTE.md con todos los datos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VentasParalelo</dc:title>
  <dc:subject>Comparacion de estrategias de programacion paralela en .NET</dc:subject>
  <dc:creator>PptxGenJS</dc:creator>
  <cp:lastModifiedBy>PptxGenJS</cp:lastModifiedBy>
  <cp:revision>1</cp:revision>
  <dcterms:created xsi:type="dcterms:W3CDTF">2026-08-26T02:41:50Z</dcterms:created>
  <dcterms:modified xsi:type="dcterms:W3CDTF">2026-08-26T02:41:50Z</dcterms:modified>
</cp:coreProperties>
</file>